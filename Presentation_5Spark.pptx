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7" r:id="rId22"/>
    <p:sldId id="278" r:id="rId23"/>
    <p:sldId id="279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jouk140/SPARK_Data_Engineering_Projet" TargetMode="Externa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818120" y="0"/>
            <a:ext cx="4373575" cy="6858000"/>
          </a:xfrm>
          <a:prstGeom prst="rect">
            <a:avLst/>
          </a:prstGeom>
          <a:solidFill>
            <a:srgbClr val="12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58368" y="658368"/>
            <a:ext cx="1874519" cy="347472"/>
          </a:xfrm>
          <a:prstGeom prst="roundRect">
            <a:avLst/>
          </a:prstGeom>
          <a:solidFill>
            <a:srgbClr val="EBF3F8"/>
          </a:solidFill>
          <a:ln>
            <a:solidFill>
              <a:srgbClr val="EB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19" y="731519"/>
            <a:ext cx="1728216" cy="1828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50" b="1">
                <a:solidFill>
                  <a:srgbClr val="2670B0"/>
                </a:solidFill>
                <a:latin typeface="Aptos"/>
              </a:rPr>
              <a:t>PROJET DATA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25880"/>
            <a:ext cx="6629400" cy="1600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100" b="1">
                <a:solidFill>
                  <a:srgbClr val="122234"/>
                </a:solidFill>
                <a:latin typeface="Aptos"/>
              </a:rPr>
              <a:t>Collecte et analyse</a:t>
            </a:r>
            <a:br/>
            <a:r>
              <a:rPr sz="3100" b="1">
                <a:solidFill>
                  <a:srgbClr val="122234"/>
                </a:solidFill>
                <a:latin typeface="Aptos"/>
              </a:rPr>
              <a:t>de données Mastodon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154680"/>
            <a:ext cx="6217920" cy="102181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0" dirty="0">
                <a:solidFill>
                  <a:srgbClr val="667788"/>
                </a:solidFill>
                <a:latin typeface="Aptos"/>
              </a:rPr>
              <a:t>Pipeline Big Data temps réel avec Kafka, Spark et PostgreSQL</a:t>
            </a:r>
            <a:endParaRPr lang="fr-FR" sz="1600" b="0" dirty="0">
              <a:solidFill>
                <a:srgbClr val="667788"/>
              </a:solidFill>
              <a:latin typeface="Aptos"/>
            </a:endParaRPr>
          </a:p>
          <a:p>
            <a:pPr algn="l"/>
            <a:endParaRPr lang="fr-FR" sz="1600" dirty="0">
              <a:solidFill>
                <a:srgbClr val="667788"/>
              </a:solidFill>
              <a:latin typeface="Aptos"/>
            </a:endParaRPr>
          </a:p>
          <a:p>
            <a:pPr algn="l"/>
            <a:endParaRPr lang="fr-FR" sz="1600" b="0" dirty="0">
              <a:solidFill>
                <a:srgbClr val="667788"/>
              </a:solidFill>
              <a:latin typeface="Aptos"/>
            </a:endParaRPr>
          </a:p>
          <a:p>
            <a:pPr algn="l"/>
            <a:r>
              <a:rPr lang="fr-FR" sz="1600" dirty="0">
                <a:solidFill>
                  <a:srgbClr val="667788"/>
                </a:solidFill>
                <a:latin typeface="Aptos"/>
              </a:rPr>
              <a:t>                                                 SUPINFO, Campus de Paris</a:t>
            </a:r>
            <a:endParaRPr sz="1600" b="0" dirty="0">
              <a:solidFill>
                <a:srgbClr val="667788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3189" y="4480560"/>
            <a:ext cx="5029200" cy="111415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fr-FR" sz="1400" b="1" dirty="0">
                <a:solidFill>
                  <a:srgbClr val="193F69"/>
                </a:solidFill>
                <a:latin typeface="Aptos"/>
              </a:rPr>
              <a:t>Présenté</a:t>
            </a:r>
            <a:r>
              <a:rPr sz="1400" b="1" dirty="0">
                <a:solidFill>
                  <a:srgbClr val="193F69"/>
                </a:solidFill>
                <a:latin typeface="Aptos"/>
              </a:rPr>
              <a:t> par :</a:t>
            </a:r>
            <a:endParaRPr lang="fr-FR" sz="1400" b="1" dirty="0">
              <a:solidFill>
                <a:srgbClr val="193F69"/>
              </a:solidFill>
              <a:latin typeface="Aptos"/>
            </a:endParaRPr>
          </a:p>
          <a:p>
            <a:pPr algn="l"/>
            <a:endParaRPr lang="fr-FR" sz="1400" b="1" dirty="0">
              <a:solidFill>
                <a:srgbClr val="193F69"/>
              </a:solidFill>
              <a:latin typeface="Aptos"/>
            </a:endParaRPr>
          </a:p>
          <a:p>
            <a:pPr algn="l"/>
            <a:endParaRPr lang="fr-FR" sz="1400" b="1" dirty="0">
              <a:solidFill>
                <a:srgbClr val="193F69"/>
              </a:solidFill>
              <a:latin typeface="Aptos"/>
            </a:endParaRPr>
          </a:p>
          <a:p>
            <a:pPr algn="l"/>
            <a:r>
              <a:rPr lang="fr-FR" sz="1400" b="1" dirty="0">
                <a:solidFill>
                  <a:srgbClr val="193F69"/>
                </a:solidFill>
                <a:latin typeface="Aptos"/>
              </a:rPr>
              <a:t>- KOMBOU DJOUKWE Hector</a:t>
            </a:r>
          </a:p>
          <a:p>
            <a:pPr algn="l"/>
            <a:r>
              <a:rPr lang="fr-FR" sz="1400" b="1" dirty="0">
                <a:solidFill>
                  <a:srgbClr val="193F69"/>
                </a:solidFill>
                <a:latin typeface="Aptos"/>
              </a:rPr>
              <a:t>- </a:t>
            </a:r>
            <a:r>
              <a:rPr sz="1400" b="1" dirty="0">
                <a:solidFill>
                  <a:srgbClr val="193F69"/>
                </a:solidFill>
                <a:latin typeface="Aptos"/>
              </a:rPr>
              <a:t>Nidhal </a:t>
            </a:r>
            <a:r>
              <a:rPr sz="1400" b="1" dirty="0" err="1">
                <a:solidFill>
                  <a:srgbClr val="193F69"/>
                </a:solidFill>
                <a:latin typeface="Aptos"/>
              </a:rPr>
              <a:t>Derbali</a:t>
            </a:r>
            <a:endParaRPr sz="1400" b="1" dirty="0">
              <a:solidFill>
                <a:srgbClr val="193F69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75320" y="822960"/>
            <a:ext cx="33375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29BEC6"/>
                </a:solidFill>
                <a:latin typeface="Aptos"/>
              </a:rPr>
              <a:t>DU FLUX À L’ANALYSE</a:t>
            </a:r>
          </a:p>
        </p:txBody>
      </p:sp>
      <p:sp>
        <p:nvSpPr>
          <p:cNvPr id="9" name="Oval 8"/>
          <p:cNvSpPr/>
          <p:nvPr/>
        </p:nvSpPr>
        <p:spPr>
          <a:xfrm>
            <a:off x="8549640" y="1508760"/>
            <a:ext cx="566928" cy="566928"/>
          </a:xfrm>
          <a:prstGeom prst="ellipse">
            <a:avLst/>
          </a:prstGeom>
          <a:solidFill>
            <a:srgbClr val="29B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49640" y="1618488"/>
            <a:ext cx="566928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72600" y="1618488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Mastodon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112264"/>
            <a:ext cx="27432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300" b="1">
                <a:solidFill>
                  <a:srgbClr val="96B4C6"/>
                </a:solidFill>
                <a:latin typeface="Aptos"/>
              </a:rPr>
              <a:t>↓</a:t>
            </a:r>
          </a:p>
        </p:txBody>
      </p:sp>
      <p:sp>
        <p:nvSpPr>
          <p:cNvPr id="13" name="Oval 12"/>
          <p:cNvSpPr/>
          <p:nvPr/>
        </p:nvSpPr>
        <p:spPr>
          <a:xfrm>
            <a:off x="8549640" y="2404872"/>
            <a:ext cx="566928" cy="566928"/>
          </a:xfrm>
          <a:prstGeom prst="ellipse">
            <a:avLst/>
          </a:prstGeom>
          <a:solidFill>
            <a:srgbClr val="29B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49640" y="2514600"/>
            <a:ext cx="566928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2514600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Kafka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3008376"/>
            <a:ext cx="27432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300" b="1">
                <a:solidFill>
                  <a:srgbClr val="96B4C6"/>
                </a:solidFill>
                <a:latin typeface="Aptos"/>
              </a:rPr>
              <a:t>↓</a:t>
            </a:r>
          </a:p>
        </p:txBody>
      </p:sp>
      <p:sp>
        <p:nvSpPr>
          <p:cNvPr id="17" name="Oval 16"/>
          <p:cNvSpPr/>
          <p:nvPr/>
        </p:nvSpPr>
        <p:spPr>
          <a:xfrm>
            <a:off x="8549640" y="3300984"/>
            <a:ext cx="566928" cy="566928"/>
          </a:xfrm>
          <a:prstGeom prst="ellipse">
            <a:avLst/>
          </a:prstGeom>
          <a:solidFill>
            <a:srgbClr val="29B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49640" y="3410712"/>
            <a:ext cx="566928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3410712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Spark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3904487"/>
            <a:ext cx="27432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300" b="1">
                <a:solidFill>
                  <a:srgbClr val="96B4C6"/>
                </a:solidFill>
                <a:latin typeface="Aptos"/>
              </a:rPr>
              <a:t>↓</a:t>
            </a:r>
          </a:p>
        </p:txBody>
      </p:sp>
      <p:sp>
        <p:nvSpPr>
          <p:cNvPr id="21" name="Oval 20"/>
          <p:cNvSpPr/>
          <p:nvPr/>
        </p:nvSpPr>
        <p:spPr>
          <a:xfrm>
            <a:off x="8549640" y="4197096"/>
            <a:ext cx="566928" cy="566928"/>
          </a:xfrm>
          <a:prstGeom prst="ellipse">
            <a:avLst/>
          </a:prstGeom>
          <a:solidFill>
            <a:srgbClr val="F49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49640" y="4306824"/>
            <a:ext cx="566928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430682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PostgreSQL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4800600"/>
            <a:ext cx="27432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300" b="1">
                <a:solidFill>
                  <a:srgbClr val="96B4C6"/>
                </a:solidFill>
                <a:latin typeface="Aptos"/>
              </a:rPr>
              <a:t>↓</a:t>
            </a:r>
          </a:p>
        </p:txBody>
      </p:sp>
      <p:sp>
        <p:nvSpPr>
          <p:cNvPr id="25" name="Oval 24"/>
          <p:cNvSpPr/>
          <p:nvPr/>
        </p:nvSpPr>
        <p:spPr>
          <a:xfrm>
            <a:off x="8549640" y="5093208"/>
            <a:ext cx="566928" cy="566928"/>
          </a:xfrm>
          <a:prstGeom prst="ellipse">
            <a:avLst/>
          </a:prstGeom>
          <a:solidFill>
            <a:srgbClr val="F49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49640" y="5202936"/>
            <a:ext cx="566928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5202936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MLlib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41148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>
                <a:solidFill>
                  <a:srgbClr val="2670B0"/>
                </a:solidFill>
                <a:latin typeface="Apto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64592"/>
            <a:ext cx="292608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>
                <a:solidFill>
                  <a:srgbClr val="29BEC6"/>
                </a:solidFill>
                <a:latin typeface="Aptos"/>
              </a:rPr>
              <a:t>VUE D’ENSEMBLE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1051560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400" b="1">
                <a:solidFill>
                  <a:srgbClr val="122234"/>
                </a:solidFill>
                <a:latin typeface="Aptos"/>
              </a:rPr>
              <a:t>Le projet en 6 étapes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932688"/>
            <a:ext cx="822960" cy="41148"/>
          </a:xfrm>
          <a:prstGeom prst="rect">
            <a:avLst/>
          </a:prstGeom>
          <a:solidFill>
            <a:srgbClr val="F49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13232" y="1417320"/>
            <a:ext cx="3401568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77824" y="1581912"/>
            <a:ext cx="530352" cy="347472"/>
          </a:xfrm>
          <a:prstGeom prst="roundRect">
            <a:avLst/>
          </a:prstGeom>
          <a:solidFill>
            <a:srgbClr val="122234"/>
          </a:solidFill>
          <a:ln>
            <a:solidFill>
              <a:srgbClr val="12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50976" y="1655064"/>
            <a:ext cx="384047" cy="1828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600200"/>
            <a:ext cx="22860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1">
                <a:solidFill>
                  <a:srgbClr val="122234"/>
                </a:solidFill>
                <a:latin typeface="Aptos"/>
              </a:rPr>
              <a:t>Préparer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167128"/>
            <a:ext cx="297180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50" b="0">
                <a:solidFill>
                  <a:srgbClr val="667788"/>
                </a:solidFill>
                <a:latin typeface="Aptos"/>
              </a:rPr>
              <a:t>Projet • Docker • PostgreSQL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417320"/>
            <a:ext cx="3401568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645152" y="1581912"/>
            <a:ext cx="530352" cy="347472"/>
          </a:xfrm>
          <a:prstGeom prst="roundRect">
            <a:avLst/>
          </a:prstGeom>
          <a:solidFill>
            <a:srgbClr val="122234"/>
          </a:solidFill>
          <a:ln>
            <a:solidFill>
              <a:srgbClr val="12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18304" y="1655064"/>
            <a:ext cx="384047" cy="1828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21808" y="1600200"/>
            <a:ext cx="22860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1">
                <a:solidFill>
                  <a:srgbClr val="122234"/>
                </a:solidFill>
                <a:latin typeface="Aptos"/>
              </a:rPr>
              <a:t>Collecter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167128"/>
            <a:ext cx="297180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50" b="0">
                <a:solidFill>
                  <a:srgbClr val="667788"/>
                </a:solidFill>
                <a:latin typeface="Aptos"/>
              </a:rPr>
              <a:t>API Mastodon • Python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47888" y="1417320"/>
            <a:ext cx="3401568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412480" y="1581912"/>
            <a:ext cx="530352" cy="347472"/>
          </a:xfrm>
          <a:prstGeom prst="roundRect">
            <a:avLst/>
          </a:prstGeom>
          <a:solidFill>
            <a:srgbClr val="122234"/>
          </a:solidFill>
          <a:ln>
            <a:solidFill>
              <a:srgbClr val="12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85632" y="1655064"/>
            <a:ext cx="384047" cy="1828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89136" y="1600200"/>
            <a:ext cx="22860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1">
                <a:solidFill>
                  <a:srgbClr val="122234"/>
                </a:solidFill>
                <a:latin typeface="Aptos"/>
              </a:rPr>
              <a:t>Transporter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7" y="2167128"/>
            <a:ext cx="297180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50" b="0">
                <a:solidFill>
                  <a:srgbClr val="667788"/>
                </a:solidFill>
                <a:latin typeface="Aptos"/>
              </a:rPr>
              <a:t>Kafka • JSON • streaming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291839"/>
            <a:ext cx="3401568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77824" y="3456432"/>
            <a:ext cx="530352" cy="347472"/>
          </a:xfrm>
          <a:prstGeom prst="roundRect">
            <a:avLst/>
          </a:prstGeom>
          <a:solidFill>
            <a:srgbClr val="122234"/>
          </a:solidFill>
          <a:ln>
            <a:solidFill>
              <a:srgbClr val="12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50976" y="3529584"/>
            <a:ext cx="384047" cy="1828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3474720"/>
            <a:ext cx="22860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1">
                <a:solidFill>
                  <a:srgbClr val="122234"/>
                </a:solidFill>
                <a:latin typeface="Aptos"/>
              </a:rPr>
              <a:t>Traiter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041648"/>
            <a:ext cx="297180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50" b="0">
                <a:solidFill>
                  <a:srgbClr val="667788"/>
                </a:solidFill>
                <a:latin typeface="Aptos"/>
              </a:rPr>
              <a:t>Spark Streaming • Batch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60" y="3291839"/>
            <a:ext cx="3401568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645152" y="3456432"/>
            <a:ext cx="530352" cy="347472"/>
          </a:xfrm>
          <a:prstGeom prst="roundRect">
            <a:avLst/>
          </a:prstGeom>
          <a:solidFill>
            <a:srgbClr val="122234"/>
          </a:solidFill>
          <a:ln>
            <a:solidFill>
              <a:srgbClr val="12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18304" y="3529584"/>
            <a:ext cx="384047" cy="1828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21808" y="3474720"/>
            <a:ext cx="22860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1">
                <a:solidFill>
                  <a:srgbClr val="122234"/>
                </a:solidFill>
                <a:latin typeface="Aptos"/>
              </a:rPr>
              <a:t>Apprendre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4041648"/>
            <a:ext cx="297180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50" b="0">
                <a:solidFill>
                  <a:srgbClr val="667788"/>
                </a:solidFill>
                <a:latin typeface="Aptos"/>
              </a:rPr>
              <a:t>Sentiment140 • MLlib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47888" y="3291839"/>
            <a:ext cx="3401568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412480" y="3456432"/>
            <a:ext cx="530352" cy="347472"/>
          </a:xfrm>
          <a:prstGeom prst="roundRect">
            <a:avLst/>
          </a:prstGeom>
          <a:solidFill>
            <a:srgbClr val="122234"/>
          </a:solidFill>
          <a:ln>
            <a:solidFill>
              <a:srgbClr val="12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85632" y="3529584"/>
            <a:ext cx="384047" cy="1828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89136" y="3474720"/>
            <a:ext cx="22860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1">
                <a:solidFill>
                  <a:srgbClr val="122234"/>
                </a:solidFill>
                <a:latin typeface="Aptos"/>
              </a:rPr>
              <a:t>Analyser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0767" y="4041648"/>
            <a:ext cx="297180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50" b="0">
                <a:solidFill>
                  <a:srgbClr val="667788"/>
                </a:solidFill>
                <a:latin typeface="Aptos"/>
              </a:rPr>
              <a:t>Jupyter • GitLab • bilan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806440"/>
            <a:ext cx="10881360" cy="566928"/>
          </a:xfrm>
          <a:prstGeom prst="roundRect">
            <a:avLst/>
          </a:prstGeom>
          <a:solidFill>
            <a:srgbClr val="EBF3F8"/>
          </a:solidFill>
          <a:ln>
            <a:solidFill>
              <a:srgbClr val="EB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875520" y="6519672"/>
            <a:ext cx="178308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750" b="1">
                <a:solidFill>
                  <a:srgbClr val="667788"/>
                </a:solidFill>
                <a:latin typeface="Aptos"/>
              </a:rPr>
              <a:t>MASTODON SPARK ANALYSIS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41148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>
                <a:solidFill>
                  <a:srgbClr val="2670B0"/>
                </a:solidFill>
                <a:latin typeface="Apto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64592"/>
            <a:ext cx="292608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>
                <a:solidFill>
                  <a:srgbClr val="29BEC6"/>
                </a:solidFill>
                <a:latin typeface="Aptos"/>
              </a:rPr>
              <a:t>POURQUOI CE PROJET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1051560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400" b="1">
                <a:solidFill>
                  <a:srgbClr val="122234"/>
                </a:solidFill>
                <a:latin typeface="Aptos"/>
              </a:rPr>
              <a:t>Contexte et objectif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932688"/>
            <a:ext cx="822960" cy="41148"/>
          </a:xfrm>
          <a:prstGeom prst="rect">
            <a:avLst/>
          </a:prstGeom>
          <a:solidFill>
            <a:srgbClr val="F49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3703320" cy="3977639"/>
          </a:xfrm>
          <a:prstGeom prst="roundRect">
            <a:avLst/>
          </a:prstGeom>
          <a:solidFill>
            <a:srgbClr val="122234"/>
          </a:solidFill>
          <a:ln>
            <a:solidFill>
              <a:srgbClr val="12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755648"/>
            <a:ext cx="31089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>
                <a:solidFill>
                  <a:srgbClr val="29BEC6"/>
                </a:solidFill>
                <a:latin typeface="Aptos"/>
              </a:rPr>
              <a:t>OBJECTIF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286000"/>
            <a:ext cx="3063240" cy="1508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Construire une chaîne</a:t>
            </a:r>
            <a:br/>
            <a:r>
              <a:rPr sz="2300" b="1">
                <a:solidFill>
                  <a:srgbClr val="FFFFFF"/>
                </a:solidFill>
                <a:latin typeface="Aptos"/>
              </a:rPr>
              <a:t>Big Data complète,</a:t>
            </a:r>
            <a:br/>
            <a:r>
              <a:rPr sz="2300" b="1">
                <a:solidFill>
                  <a:srgbClr val="FFFFFF"/>
                </a:solidFill>
                <a:latin typeface="Aptos"/>
              </a:rPr>
              <a:t>de la collecte jusqu’à</a:t>
            </a:r>
            <a:br/>
            <a:r>
              <a:rPr sz="2300" b="1">
                <a:solidFill>
                  <a:srgbClr val="FFFFFF"/>
                </a:solidFill>
                <a:latin typeface="Aptos"/>
              </a:rPr>
              <a:t>l’analyse de sentiment.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1389888"/>
            <a:ext cx="1234440" cy="347472"/>
          </a:xfrm>
          <a:prstGeom prst="roundRect">
            <a:avLst/>
          </a:prstGeom>
          <a:solidFill>
            <a:srgbClr val="29BEC6"/>
          </a:solidFill>
          <a:ln>
            <a:solidFill>
              <a:srgbClr val="29B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65192" y="1463040"/>
            <a:ext cx="1088136" cy="1828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Collecter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444752"/>
            <a:ext cx="43891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122234"/>
                </a:solidFill>
                <a:latin typeface="Aptos"/>
              </a:rPr>
              <a:t>Publications Mastodon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2148840"/>
            <a:ext cx="1234440" cy="347472"/>
          </a:xfrm>
          <a:prstGeom prst="roundRect">
            <a:avLst/>
          </a:prstGeom>
          <a:solidFill>
            <a:srgbClr val="2670B0"/>
          </a:solidFill>
          <a:ln>
            <a:solidFill>
              <a:srgbClr val="267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65192" y="2221992"/>
            <a:ext cx="1088136" cy="1828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Transporter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203704"/>
            <a:ext cx="43891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122234"/>
                </a:solidFill>
                <a:latin typeface="Aptos"/>
              </a:rPr>
              <a:t>Flux temps réel avec Kafka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2907791"/>
            <a:ext cx="1234440" cy="347472"/>
          </a:xfrm>
          <a:prstGeom prst="roundRect">
            <a:avLst/>
          </a:prstGeom>
          <a:solidFill>
            <a:srgbClr val="F49740"/>
          </a:solidFill>
          <a:ln>
            <a:solidFill>
              <a:srgbClr val="F49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65192" y="2980944"/>
            <a:ext cx="1088136" cy="1828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Traiter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962656"/>
            <a:ext cx="43891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122234"/>
                </a:solidFill>
                <a:latin typeface="Aptos"/>
              </a:rPr>
              <a:t>Spark Streaming + Batch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92040" y="3666744"/>
            <a:ext cx="1234440" cy="347472"/>
          </a:xfrm>
          <a:prstGeom prst="roundRect">
            <a:avLst/>
          </a:prstGeom>
          <a:solidFill>
            <a:srgbClr val="339B70"/>
          </a:solidFill>
          <a:ln>
            <a:solidFill>
              <a:srgbClr val="339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65192" y="3739896"/>
            <a:ext cx="1088136" cy="1828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Stocker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721607"/>
            <a:ext cx="43891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122234"/>
                </a:solidFill>
                <a:latin typeface="Aptos"/>
              </a:rPr>
              <a:t>PostgreSQL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92040" y="4425696"/>
            <a:ext cx="1234440" cy="347472"/>
          </a:xfrm>
          <a:prstGeom prst="roundRect">
            <a:avLst/>
          </a:prstGeom>
          <a:solidFill>
            <a:srgbClr val="29BEC6"/>
          </a:solidFill>
          <a:ln>
            <a:solidFill>
              <a:srgbClr val="29B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65192" y="4498848"/>
            <a:ext cx="1088136" cy="1828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Analyser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480559"/>
            <a:ext cx="43891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122234"/>
                </a:solidFill>
                <a:latin typeface="Aptos"/>
              </a:rPr>
              <a:t>MLlib + Jupyter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806440"/>
            <a:ext cx="10881360" cy="566928"/>
          </a:xfrm>
          <a:prstGeom prst="roundRect">
            <a:avLst/>
          </a:prstGeom>
          <a:solidFill>
            <a:srgbClr val="EBF3F8"/>
          </a:solidFill>
          <a:ln>
            <a:solidFill>
              <a:srgbClr val="EB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75520" y="6519672"/>
            <a:ext cx="178308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750" b="1">
                <a:solidFill>
                  <a:srgbClr val="667788"/>
                </a:solidFill>
                <a:latin typeface="Aptos"/>
              </a:rPr>
              <a:t>MASTODON SPARK ANALYSIS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41148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>
                <a:solidFill>
                  <a:srgbClr val="2670B0"/>
                </a:solidFill>
                <a:latin typeface="Apto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64592"/>
            <a:ext cx="292608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>
                <a:solidFill>
                  <a:srgbClr val="29BEC6"/>
                </a:solidFill>
                <a:latin typeface="Aptos"/>
              </a:rPr>
              <a:t>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1051560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400" b="1">
                <a:solidFill>
                  <a:srgbClr val="122234"/>
                </a:solidFill>
                <a:latin typeface="Aptos"/>
              </a:rPr>
              <a:t>Architecture générale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932688"/>
            <a:ext cx="822960" cy="41148"/>
          </a:xfrm>
          <a:prstGeom prst="rect">
            <a:avLst/>
          </a:prstGeom>
          <a:solidFill>
            <a:srgbClr val="F49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11480" y="1828800"/>
            <a:ext cx="157276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23544" y="2057400"/>
            <a:ext cx="548640" cy="548640"/>
          </a:xfrm>
          <a:prstGeom prst="ellipse">
            <a:avLst/>
          </a:prstGeom>
          <a:solidFill>
            <a:srgbClr val="29B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1208" y="2761488"/>
            <a:ext cx="1353312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350" b="1">
                <a:solidFill>
                  <a:srgbClr val="122234"/>
                </a:solidFill>
                <a:latin typeface="Aptos"/>
              </a:rPr>
              <a:t>Mastodon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3127248"/>
            <a:ext cx="1353312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0">
                <a:solidFill>
                  <a:srgbClr val="667788"/>
                </a:solidFill>
                <a:latin typeface="Aptos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20824" y="2468880"/>
            <a:ext cx="310896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800" b="1">
                <a:solidFill>
                  <a:srgbClr val="667788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50008" y="1828800"/>
            <a:ext cx="157276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862072" y="2057400"/>
            <a:ext cx="548640" cy="548640"/>
          </a:xfrm>
          <a:prstGeom prst="ellipse">
            <a:avLst/>
          </a:prstGeom>
          <a:solidFill>
            <a:srgbClr val="267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59736" y="2761488"/>
            <a:ext cx="1353312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350" b="1">
                <a:solidFill>
                  <a:srgbClr val="122234"/>
                </a:solidFill>
                <a:latin typeface="Aptos"/>
              </a:rPr>
              <a:t>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59736" y="3127248"/>
            <a:ext cx="1353312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0">
                <a:solidFill>
                  <a:srgbClr val="667788"/>
                </a:solidFill>
                <a:latin typeface="Aptos"/>
              </a:rPr>
              <a:t>collecte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59352" y="2468880"/>
            <a:ext cx="310896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800" b="1">
                <a:solidFill>
                  <a:srgbClr val="667788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88536" y="1828800"/>
            <a:ext cx="157276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800600" y="2057400"/>
            <a:ext cx="548640" cy="548640"/>
          </a:xfrm>
          <a:prstGeom prst="ellipse">
            <a:avLst/>
          </a:prstGeom>
          <a:solidFill>
            <a:srgbClr val="F49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98264" y="2761488"/>
            <a:ext cx="1353312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350" b="1">
                <a:solidFill>
                  <a:srgbClr val="122234"/>
                </a:solidFill>
                <a:latin typeface="Aptos"/>
              </a:rPr>
              <a:t>Kafka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98264" y="3127248"/>
            <a:ext cx="1353312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0">
                <a:solidFill>
                  <a:srgbClr val="667788"/>
                </a:solidFill>
                <a:latin typeface="Aptos"/>
              </a:rPr>
              <a:t>flux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2468880"/>
            <a:ext cx="310896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800" b="1">
                <a:solidFill>
                  <a:srgbClr val="667788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27064" y="1828800"/>
            <a:ext cx="157276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739128" y="2057400"/>
            <a:ext cx="548640" cy="548640"/>
          </a:xfrm>
          <a:prstGeom prst="ellipse">
            <a:avLst/>
          </a:prstGeom>
          <a:solidFill>
            <a:srgbClr val="29B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36792" y="2761488"/>
            <a:ext cx="1353312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350" b="1">
                <a:solidFill>
                  <a:srgbClr val="122234"/>
                </a:solidFill>
                <a:latin typeface="Aptos"/>
              </a:rPr>
              <a:t>Spark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6792" y="3127248"/>
            <a:ext cx="1353312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0">
                <a:solidFill>
                  <a:srgbClr val="667788"/>
                </a:solidFill>
                <a:latin typeface="Aptos"/>
              </a:rPr>
              <a:t>traitement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36408" y="2468880"/>
            <a:ext cx="310896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800" b="1">
                <a:solidFill>
                  <a:srgbClr val="667788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65592" y="1828800"/>
            <a:ext cx="157276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677656" y="2057400"/>
            <a:ext cx="548640" cy="548640"/>
          </a:xfrm>
          <a:prstGeom prst="ellipse">
            <a:avLst/>
          </a:prstGeom>
          <a:solidFill>
            <a:srgbClr val="339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75319" y="2761488"/>
            <a:ext cx="1353312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350" b="1">
                <a:solidFill>
                  <a:srgbClr val="122234"/>
                </a:solidFill>
                <a:latin typeface="Aptos"/>
              </a:rPr>
              <a:t>PostgreSQL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9" y="3127248"/>
            <a:ext cx="1353312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0">
                <a:solidFill>
                  <a:srgbClr val="667788"/>
                </a:solidFill>
                <a:latin typeface="Aptos"/>
              </a:rPr>
              <a:t>stockage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74936" y="2468880"/>
            <a:ext cx="310896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800" b="1">
                <a:solidFill>
                  <a:srgbClr val="667788"/>
                </a:solidFill>
                <a:latin typeface="Aptos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104120" y="1828800"/>
            <a:ext cx="157276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616184" y="2057400"/>
            <a:ext cx="548640" cy="548640"/>
          </a:xfrm>
          <a:prstGeom prst="ellipse">
            <a:avLst/>
          </a:prstGeom>
          <a:solidFill>
            <a:srgbClr val="F49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213848" y="2761488"/>
            <a:ext cx="1353312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350" b="1">
                <a:solidFill>
                  <a:srgbClr val="122234"/>
                </a:solidFill>
                <a:latin typeface="Aptos"/>
              </a:rPr>
              <a:t>MLlib</a:t>
            </a:r>
            <a:br/>
            <a:r>
              <a:rPr sz="1350" b="1">
                <a:solidFill>
                  <a:srgbClr val="122234"/>
                </a:solidFill>
                <a:latin typeface="Aptos"/>
              </a:rPr>
              <a:t>Jupyter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13848" y="3127248"/>
            <a:ext cx="1353312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0">
                <a:solidFill>
                  <a:srgbClr val="667788"/>
                </a:solidFill>
                <a:latin typeface="Aptos"/>
              </a:rPr>
              <a:t>analyse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43000" y="4160520"/>
            <a:ext cx="9921240" cy="685800"/>
          </a:xfrm>
          <a:prstGeom prst="roundRect">
            <a:avLst/>
          </a:prstGeom>
          <a:solidFill>
            <a:srgbClr val="EBF3F8"/>
          </a:solidFill>
          <a:ln>
            <a:solidFill>
              <a:srgbClr val="EB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371600" y="4370832"/>
            <a:ext cx="94640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600" b="1">
                <a:solidFill>
                  <a:srgbClr val="193F69"/>
                </a:solidFill>
                <a:latin typeface="Aptos"/>
              </a:rPr>
              <a:t>Mastodon → Python → Kafka → Spark → PostgreSQL → MLlib / Jupyter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806440"/>
            <a:ext cx="10881360" cy="566928"/>
          </a:xfrm>
          <a:prstGeom prst="roundRect">
            <a:avLst/>
          </a:prstGeom>
          <a:solidFill>
            <a:srgbClr val="EBF3F8"/>
          </a:solidFill>
          <a:ln>
            <a:solidFill>
              <a:srgbClr val="EB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875520" y="6519672"/>
            <a:ext cx="178308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750" b="1">
                <a:solidFill>
                  <a:srgbClr val="667788"/>
                </a:solidFill>
                <a:latin typeface="Aptos"/>
              </a:rPr>
              <a:t>MASTODON SPARK ANALYSIS</a:t>
            </a: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41148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>
                <a:solidFill>
                  <a:srgbClr val="2670B0"/>
                </a:solidFill>
                <a:latin typeface="Apto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64592"/>
            <a:ext cx="292608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>
                <a:solidFill>
                  <a:srgbClr val="29BEC6"/>
                </a:solidFill>
                <a:latin typeface="Aptos"/>
              </a:rPr>
              <a:t>MISE EN 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1051560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400" b="1">
                <a:solidFill>
                  <a:srgbClr val="122234"/>
                </a:solidFill>
                <a:latin typeface="Aptos"/>
              </a:rPr>
              <a:t>Organisation du projet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932688"/>
            <a:ext cx="822960" cy="41148"/>
          </a:xfrm>
          <a:prstGeom prst="rect">
            <a:avLst/>
          </a:prstGeom>
          <a:solidFill>
            <a:srgbClr val="F49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261872"/>
            <a:ext cx="5230368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261872"/>
            <a:ext cx="64008" cy="1078992"/>
          </a:xfrm>
          <a:prstGeom prst="rect">
            <a:avLst/>
          </a:prstGeom>
          <a:solidFill>
            <a:srgbClr val="29B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408175"/>
            <a:ext cx="4818888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50" b="1">
                <a:solidFill>
                  <a:srgbClr val="122234"/>
                </a:solidFill>
                <a:latin typeface="Aptos"/>
              </a:rPr>
              <a:t>kafka/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4818888" cy="51206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50" b="0">
                <a:solidFill>
                  <a:srgbClr val="667788"/>
                </a:solidFill>
                <a:latin typeface="Aptos"/>
              </a:rPr>
              <a:t>Tests de connexion et producteur Mastodon.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261872"/>
            <a:ext cx="5230368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1261872"/>
            <a:ext cx="64008" cy="1078992"/>
          </a:xfrm>
          <a:prstGeom prst="rect">
            <a:avLst/>
          </a:prstGeom>
          <a:solidFill>
            <a:srgbClr val="267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408175"/>
            <a:ext cx="4818888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50" b="1">
                <a:solidFill>
                  <a:srgbClr val="122234"/>
                </a:solidFill>
                <a:latin typeface="Aptos"/>
              </a:rPr>
              <a:t>spark/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37360"/>
            <a:ext cx="4818888" cy="51206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50" b="0">
                <a:solidFill>
                  <a:srgbClr val="667788"/>
                </a:solidFill>
                <a:latin typeface="Aptos"/>
              </a:rPr>
              <a:t>Streaming, batch et analyse de sentiment.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542032"/>
            <a:ext cx="5230368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2542032"/>
            <a:ext cx="64008" cy="1078992"/>
          </a:xfrm>
          <a:prstGeom prst="rect">
            <a:avLst/>
          </a:prstGeom>
          <a:solidFill>
            <a:srgbClr val="339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2688336"/>
            <a:ext cx="4818888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50" b="1">
                <a:solidFill>
                  <a:srgbClr val="122234"/>
                </a:solidFill>
                <a:latin typeface="Aptos"/>
              </a:rPr>
              <a:t>database/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017520"/>
            <a:ext cx="4818888" cy="51206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50" b="0">
                <a:solidFill>
                  <a:srgbClr val="667788"/>
                </a:solidFill>
                <a:latin typeface="Aptos"/>
              </a:rPr>
              <a:t>Script SQL d’initialisation PostgreSQL.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542032"/>
            <a:ext cx="5230368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72200" y="2542032"/>
            <a:ext cx="64008" cy="1078992"/>
          </a:xfrm>
          <a:prstGeom prst="rect">
            <a:avLst/>
          </a:prstGeom>
          <a:solidFill>
            <a:srgbClr val="F49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2688336"/>
            <a:ext cx="4818888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50" b="1">
                <a:solidFill>
                  <a:srgbClr val="122234"/>
                </a:solidFill>
                <a:latin typeface="Aptos"/>
              </a:rPr>
              <a:t>data/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017520"/>
            <a:ext cx="4818888" cy="51206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50" b="0">
                <a:solidFill>
                  <a:srgbClr val="667788"/>
                </a:solidFill>
                <a:latin typeface="Aptos"/>
              </a:rPr>
              <a:t>Dataset Sentiment140 et checkpoints.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822191"/>
            <a:ext cx="5230368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5800" y="3822191"/>
            <a:ext cx="64008" cy="1078992"/>
          </a:xfrm>
          <a:prstGeom prst="rect">
            <a:avLst/>
          </a:prstGeom>
          <a:solidFill>
            <a:srgbClr val="29B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3968496"/>
            <a:ext cx="4818888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50" b="1">
                <a:solidFill>
                  <a:srgbClr val="122234"/>
                </a:solidFill>
                <a:latin typeface="Aptos"/>
              </a:rPr>
              <a:t>notebooks/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297679"/>
            <a:ext cx="4818888" cy="51206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50" b="0">
                <a:solidFill>
                  <a:srgbClr val="667788"/>
                </a:solidFill>
                <a:latin typeface="Aptos"/>
              </a:rPr>
              <a:t>Analyse et visualisations Jupyter.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3822191"/>
            <a:ext cx="5230368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72200" y="3822191"/>
            <a:ext cx="64008" cy="1078992"/>
          </a:xfrm>
          <a:prstGeom prst="rect">
            <a:avLst/>
          </a:prstGeom>
          <a:solidFill>
            <a:srgbClr val="267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3968496"/>
            <a:ext cx="4818888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50" b="1">
                <a:solidFill>
                  <a:srgbClr val="122234"/>
                </a:solidFill>
                <a:latin typeface="Aptos"/>
              </a:rPr>
              <a:t>Racine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297679"/>
            <a:ext cx="4818888" cy="51206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50" b="0">
                <a:solidFill>
                  <a:srgbClr val="667788"/>
                </a:solidFill>
                <a:latin typeface="Aptos"/>
              </a:rPr>
              <a:t>Docker Compose, README, .env.example, .gitignore.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806440"/>
            <a:ext cx="10881360" cy="566928"/>
          </a:xfrm>
          <a:prstGeom prst="roundRect">
            <a:avLst/>
          </a:prstGeom>
          <a:solidFill>
            <a:srgbClr val="EBF3F8"/>
          </a:solidFill>
          <a:ln>
            <a:solidFill>
              <a:srgbClr val="EB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875520" y="6519672"/>
            <a:ext cx="178308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750" b="1">
                <a:solidFill>
                  <a:srgbClr val="667788"/>
                </a:solidFill>
                <a:latin typeface="Aptos"/>
              </a:rPr>
              <a:t>MASTODON SPARK ANALYSIS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41148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>
                <a:solidFill>
                  <a:srgbClr val="2670B0"/>
                </a:solidFill>
                <a:latin typeface="Aptos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64592"/>
            <a:ext cx="292608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>
                <a:solidFill>
                  <a:srgbClr val="29BEC6"/>
                </a:solidFill>
                <a:latin typeface="Aptos"/>
              </a:rPr>
              <a:t>MISE EN 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1051560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400" b="1">
                <a:solidFill>
                  <a:srgbClr val="122234"/>
                </a:solidFill>
                <a:latin typeface="Aptos"/>
              </a:rPr>
              <a:t>Environnement Docker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932688"/>
            <a:ext cx="822960" cy="41148"/>
          </a:xfrm>
          <a:prstGeom prst="rect">
            <a:avLst/>
          </a:prstGeom>
          <a:solidFill>
            <a:srgbClr val="F49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261872"/>
            <a:ext cx="7635240" cy="4224528"/>
          </a:xfrm>
          <a:prstGeom prst="roundRect">
            <a:avLst/>
          </a:prstGeom>
          <a:solidFill>
            <a:srgbClr val="FFFFFF"/>
          </a:solidFill>
          <a:ln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1481328"/>
            <a:ext cx="100584" cy="100584"/>
          </a:xfrm>
          <a:prstGeom prst="ellipse">
            <a:avLst/>
          </a:prstGeom>
          <a:solidFill>
            <a:srgbClr val="D25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33856" y="1481328"/>
            <a:ext cx="100584" cy="100584"/>
          </a:xfrm>
          <a:prstGeom prst="ellipse">
            <a:avLst/>
          </a:prstGeom>
          <a:solidFill>
            <a:srgbClr val="F49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53312" y="1481328"/>
            <a:ext cx="100584" cy="100584"/>
          </a:xfrm>
          <a:prstGeom prst="ellipse">
            <a:avLst/>
          </a:prstGeom>
          <a:solidFill>
            <a:srgbClr val="339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1563624"/>
            <a:ext cx="7132320" cy="3139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800" b="1" dirty="0">
                <a:solidFill>
                  <a:srgbClr val="667788"/>
                </a:solidFill>
                <a:latin typeface="Aptos"/>
              </a:rPr>
              <a:t>CAPTURE  — docker </a:t>
            </a:r>
            <a:r>
              <a:rPr lang="fr-FR" b="1" dirty="0">
                <a:solidFill>
                  <a:srgbClr val="667788"/>
                </a:solidFill>
                <a:latin typeface="Aptos"/>
              </a:rPr>
              <a:t>ps</a:t>
            </a:r>
            <a:endParaRPr sz="1800" b="1" dirty="0">
              <a:solidFill>
                <a:srgbClr val="667788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577072" y="1261872"/>
            <a:ext cx="2953512" cy="4224528"/>
          </a:xfrm>
          <a:prstGeom prst="roundRect">
            <a:avLst/>
          </a:prstGeom>
          <a:solidFill>
            <a:srgbClr val="122234"/>
          </a:solidFill>
          <a:ln>
            <a:solidFill>
              <a:srgbClr val="12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979408" y="1627632"/>
            <a:ext cx="2148840" cy="347472"/>
          </a:xfrm>
          <a:prstGeom prst="roundRect">
            <a:avLst/>
          </a:prstGeom>
          <a:solidFill>
            <a:srgbClr val="F49740"/>
          </a:solidFill>
          <a:ln>
            <a:solidFill>
              <a:srgbClr val="F49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52560" y="1700784"/>
            <a:ext cx="2002536" cy="1828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RÉSULTAT CLÉ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1392" y="2331720"/>
            <a:ext cx="2404872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"/>
              </a:rPr>
              <a:t>3 services</a:t>
            </a:r>
            <a:br/>
            <a:r>
              <a:rPr sz="2500" b="1">
                <a:solidFill>
                  <a:srgbClr val="FFFFFF"/>
                </a:solidFill>
                <a:latin typeface="Aptos"/>
              </a:rPr>
              <a:t>actifs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3493008"/>
            <a:ext cx="2286000" cy="11887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50" b="0">
                <a:solidFill>
                  <a:srgbClr val="DAE5EE"/>
                </a:solidFill>
                <a:latin typeface="Aptos"/>
              </a:rPr>
              <a:t>Kafka, Spark et PostgreSQL fonctionnent ensemble.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806440"/>
            <a:ext cx="10881360" cy="566928"/>
          </a:xfrm>
          <a:prstGeom prst="roundRect">
            <a:avLst/>
          </a:prstGeom>
          <a:solidFill>
            <a:srgbClr val="EBF3F8"/>
          </a:solidFill>
          <a:ln>
            <a:solidFill>
              <a:srgbClr val="EB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75520" y="6519672"/>
            <a:ext cx="178308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750" b="1">
                <a:solidFill>
                  <a:srgbClr val="667788"/>
                </a:solidFill>
                <a:latin typeface="Aptos"/>
              </a:rPr>
              <a:t>MASTODON SPARK ANALYSIS</a:t>
            </a: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432C3DC0-94E6-2905-5F0F-A0816EA63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006" y="1965960"/>
            <a:ext cx="7367730" cy="27157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41148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>
                <a:solidFill>
                  <a:srgbClr val="2670B0"/>
                </a:solidFill>
                <a:latin typeface="Aptos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64592"/>
            <a:ext cx="292608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>
                <a:solidFill>
                  <a:srgbClr val="29BEC6"/>
                </a:solidFill>
                <a:latin typeface="Aptos"/>
              </a:rPr>
              <a:t>MISE EN 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1051560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400" b="1">
                <a:solidFill>
                  <a:srgbClr val="122234"/>
                </a:solidFill>
                <a:latin typeface="Aptos"/>
              </a:rPr>
              <a:t>Préparation de PostgreSQL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932688"/>
            <a:ext cx="822960" cy="41148"/>
          </a:xfrm>
          <a:prstGeom prst="rect">
            <a:avLst/>
          </a:prstGeom>
          <a:solidFill>
            <a:srgbClr val="F49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662940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603504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193F69"/>
                </a:solidFill>
                <a:latin typeface="Aptos"/>
              </a:rPr>
              <a:t>Table principale :  toots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331720"/>
            <a:ext cx="2606040" cy="347472"/>
          </a:xfrm>
          <a:prstGeom prst="roundRect">
            <a:avLst/>
          </a:prstGeom>
          <a:solidFill>
            <a:srgbClr val="EBF3F8"/>
          </a:solidFill>
          <a:ln>
            <a:solidFill>
              <a:srgbClr val="EB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33272" y="2404872"/>
            <a:ext cx="2459736" cy="1828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50" b="1">
                <a:solidFill>
                  <a:srgbClr val="2670B0"/>
                </a:solidFill>
                <a:latin typeface="Aptos"/>
              </a:rPr>
              <a:t>id / original_id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0" y="2331720"/>
            <a:ext cx="2606040" cy="347472"/>
          </a:xfrm>
          <a:prstGeom prst="roundRect">
            <a:avLst/>
          </a:prstGeom>
          <a:solidFill>
            <a:srgbClr val="EBF3F8"/>
          </a:solidFill>
          <a:ln>
            <a:solidFill>
              <a:srgbClr val="EB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005072" y="2404872"/>
            <a:ext cx="2459736" cy="1828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50" b="1">
                <a:solidFill>
                  <a:srgbClr val="2670B0"/>
                </a:solidFill>
                <a:latin typeface="Aptos"/>
              </a:rPr>
              <a:t>created_at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3044952"/>
            <a:ext cx="2606040" cy="347472"/>
          </a:xfrm>
          <a:prstGeom prst="roundRect">
            <a:avLst/>
          </a:prstGeom>
          <a:solidFill>
            <a:srgbClr val="EBF3F8"/>
          </a:solidFill>
          <a:ln>
            <a:solidFill>
              <a:srgbClr val="EB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33272" y="3118104"/>
            <a:ext cx="2459736" cy="1828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50" b="1">
                <a:solidFill>
                  <a:srgbClr val="2670B0"/>
                </a:solidFill>
                <a:latin typeface="Aptos"/>
              </a:rPr>
              <a:t>username / user_id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31920" y="3044952"/>
            <a:ext cx="2606040" cy="347472"/>
          </a:xfrm>
          <a:prstGeom prst="roundRect">
            <a:avLst/>
          </a:prstGeom>
          <a:solidFill>
            <a:srgbClr val="EBF3F8"/>
          </a:solidFill>
          <a:ln>
            <a:solidFill>
              <a:srgbClr val="EB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005072" y="3118104"/>
            <a:ext cx="2459736" cy="1828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50" b="1">
                <a:solidFill>
                  <a:srgbClr val="2670B0"/>
                </a:solidFill>
                <a:latin typeface="Aptos"/>
              </a:rPr>
              <a:t>text / language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3758183"/>
            <a:ext cx="2606040" cy="347472"/>
          </a:xfrm>
          <a:prstGeom prst="roundRect">
            <a:avLst/>
          </a:prstGeom>
          <a:solidFill>
            <a:srgbClr val="EBF3F8"/>
          </a:solidFill>
          <a:ln>
            <a:solidFill>
              <a:srgbClr val="EB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33272" y="3831335"/>
            <a:ext cx="2459736" cy="1828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50" b="1">
                <a:solidFill>
                  <a:srgbClr val="2670B0"/>
                </a:solidFill>
                <a:latin typeface="Aptos"/>
              </a:rPr>
              <a:t>hashtags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31920" y="3758183"/>
            <a:ext cx="2606040" cy="347472"/>
          </a:xfrm>
          <a:prstGeom prst="roundRect">
            <a:avLst/>
          </a:prstGeom>
          <a:solidFill>
            <a:srgbClr val="EBF3F8"/>
          </a:solidFill>
          <a:ln>
            <a:solidFill>
              <a:srgbClr val="EB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005072" y="3831335"/>
            <a:ext cx="2459736" cy="1828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50" b="1">
                <a:solidFill>
                  <a:srgbClr val="2670B0"/>
                </a:solidFill>
                <a:latin typeface="Aptos"/>
              </a:rPr>
              <a:t>favourites / reblogs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0" y="1371600"/>
            <a:ext cx="3794760" cy="3931920"/>
          </a:xfrm>
          <a:prstGeom prst="roundRect">
            <a:avLst/>
          </a:prstGeom>
          <a:solidFill>
            <a:srgbClr val="122234"/>
          </a:solidFill>
          <a:ln>
            <a:solidFill>
              <a:srgbClr val="12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0" y="1755648"/>
            <a:ext cx="306324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29BEC6"/>
                </a:solidFill>
                <a:latin typeface="Aptos"/>
              </a:rPr>
              <a:t>RÔLE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65008" y="2423160"/>
            <a:ext cx="3017520" cy="13258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Stocker durablement</a:t>
            </a:r>
            <a:br/>
            <a:r>
              <a:rPr sz="2200" b="1">
                <a:solidFill>
                  <a:srgbClr val="FFFFFF"/>
                </a:solidFill>
                <a:latin typeface="Aptos"/>
              </a:rPr>
              <a:t>les publications</a:t>
            </a:r>
            <a:br/>
            <a:r>
              <a:rPr sz="2200" b="1">
                <a:solidFill>
                  <a:srgbClr val="FFFFFF"/>
                </a:solidFill>
                <a:latin typeface="Aptos"/>
              </a:rPr>
              <a:t>traitées par Spark.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806440"/>
            <a:ext cx="10881360" cy="566928"/>
          </a:xfrm>
          <a:prstGeom prst="roundRect">
            <a:avLst/>
          </a:prstGeom>
          <a:solidFill>
            <a:srgbClr val="EBF3F8"/>
          </a:solidFill>
          <a:ln>
            <a:solidFill>
              <a:srgbClr val="EB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875520" y="6519672"/>
            <a:ext cx="178308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750" b="1">
                <a:solidFill>
                  <a:srgbClr val="667788"/>
                </a:solidFill>
                <a:latin typeface="Aptos"/>
              </a:rPr>
              <a:t>MASTODON SPARK ANALYSIS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41148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>
                <a:solidFill>
                  <a:srgbClr val="2670B0"/>
                </a:solidFill>
                <a:latin typeface="Aptos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64592"/>
            <a:ext cx="292608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>
                <a:solidFill>
                  <a:srgbClr val="29BEC6"/>
                </a:solidFill>
                <a:latin typeface="Aptos"/>
              </a:rPr>
              <a:t>COLLECTE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1051560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400" b="1">
                <a:solidFill>
                  <a:srgbClr val="122234"/>
                </a:solidFill>
                <a:latin typeface="Aptos"/>
              </a:rPr>
              <a:t>Connexion à l’API Mastodon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932688"/>
            <a:ext cx="822960" cy="41148"/>
          </a:xfrm>
          <a:prstGeom prst="rect">
            <a:avLst/>
          </a:prstGeom>
          <a:solidFill>
            <a:srgbClr val="F49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230368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64008" cy="1353312"/>
          </a:xfrm>
          <a:prstGeom prst="rect">
            <a:avLst/>
          </a:prstGeom>
          <a:solidFill>
            <a:srgbClr val="29B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63624"/>
            <a:ext cx="4818888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50" b="1">
                <a:solidFill>
                  <a:srgbClr val="122234"/>
                </a:solidFill>
                <a:latin typeface="Aptos"/>
              </a:rPr>
              <a:t>Instance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92808"/>
            <a:ext cx="4818888" cy="7863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50" b="0">
                <a:solidFill>
                  <a:srgbClr val="667788"/>
                </a:solidFill>
                <a:latin typeface="Aptos"/>
              </a:rPr>
              <a:t>Connexion à mastodon.social.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17320"/>
            <a:ext cx="5230368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1417320"/>
            <a:ext cx="64008" cy="1353312"/>
          </a:xfrm>
          <a:prstGeom prst="rect">
            <a:avLst/>
          </a:prstGeom>
          <a:solidFill>
            <a:srgbClr val="267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563624"/>
            <a:ext cx="4818888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50" b="1">
                <a:solidFill>
                  <a:srgbClr val="122234"/>
                </a:solidFill>
                <a:latin typeface="Aptos"/>
              </a:rPr>
              <a:t>Configuration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92808"/>
            <a:ext cx="4818888" cy="7863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50" b="0">
                <a:solidFill>
                  <a:srgbClr val="667788"/>
                </a:solidFill>
                <a:latin typeface="Aptos"/>
              </a:rPr>
              <a:t>Les identifiants sont placés dans .env.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71800"/>
            <a:ext cx="5230368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2971800"/>
            <a:ext cx="64008" cy="1353312"/>
          </a:xfrm>
          <a:prstGeom prst="rect">
            <a:avLst/>
          </a:prstGeom>
          <a:solidFill>
            <a:srgbClr val="F49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118104"/>
            <a:ext cx="4818888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50" b="1">
                <a:solidFill>
                  <a:srgbClr val="122234"/>
                </a:solidFill>
                <a:latin typeface="Aptos"/>
              </a:rPr>
              <a:t>Sécurité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447288"/>
            <a:ext cx="4818888" cy="7863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50" b="0">
                <a:solidFill>
                  <a:srgbClr val="667788"/>
                </a:solidFill>
                <a:latin typeface="Aptos"/>
              </a:rPr>
              <a:t>.env est exclu du dépôt avec .gitignore.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971800"/>
            <a:ext cx="5230368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72200" y="2971800"/>
            <a:ext cx="64008" cy="1353312"/>
          </a:xfrm>
          <a:prstGeom prst="rect">
            <a:avLst/>
          </a:prstGeom>
          <a:solidFill>
            <a:srgbClr val="339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3118104"/>
            <a:ext cx="4818888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50" b="1">
                <a:solidFill>
                  <a:srgbClr val="122234"/>
                </a:solidFill>
                <a:latin typeface="Aptos"/>
              </a:rPr>
              <a:t>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447288"/>
            <a:ext cx="4818888" cy="7863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50" b="0">
                <a:solidFill>
                  <a:srgbClr val="667788"/>
                </a:solidFill>
                <a:latin typeface="Aptos"/>
              </a:rPr>
              <a:t>Je teste la connexion avant de lancer le producteur.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806440"/>
            <a:ext cx="10881360" cy="566928"/>
          </a:xfrm>
          <a:prstGeom prst="roundRect">
            <a:avLst/>
          </a:prstGeom>
          <a:solidFill>
            <a:srgbClr val="EBF3F8"/>
          </a:solidFill>
          <a:ln>
            <a:solidFill>
              <a:srgbClr val="EB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75520" y="6519672"/>
            <a:ext cx="178308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750" b="1">
                <a:solidFill>
                  <a:srgbClr val="667788"/>
                </a:solidFill>
                <a:latin typeface="Aptos"/>
              </a:rPr>
              <a:t>MASTODON SPARK ANALYSIS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41148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>
                <a:solidFill>
                  <a:srgbClr val="2670B0"/>
                </a:solidFill>
                <a:latin typeface="Aptos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64592"/>
            <a:ext cx="292608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>
                <a:solidFill>
                  <a:srgbClr val="29BEC6"/>
                </a:solidFill>
                <a:latin typeface="Aptos"/>
              </a:rPr>
              <a:t>COLLECTE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1051560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400" b="1">
                <a:solidFill>
                  <a:srgbClr val="122234"/>
                </a:solidFill>
                <a:latin typeface="Aptos"/>
              </a:rPr>
              <a:t>Producteur Python : Mastodon → Kafka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932688"/>
            <a:ext cx="822960" cy="41148"/>
          </a:xfrm>
          <a:prstGeom prst="rect">
            <a:avLst/>
          </a:prstGeom>
          <a:solidFill>
            <a:srgbClr val="F49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261872"/>
            <a:ext cx="7635240" cy="4224528"/>
          </a:xfrm>
          <a:prstGeom prst="roundRect">
            <a:avLst/>
          </a:prstGeom>
          <a:solidFill>
            <a:srgbClr val="FFFFFF"/>
          </a:solidFill>
          <a:ln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1481328"/>
            <a:ext cx="100584" cy="100584"/>
          </a:xfrm>
          <a:prstGeom prst="ellipse">
            <a:avLst/>
          </a:prstGeom>
          <a:solidFill>
            <a:srgbClr val="D25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33856" y="1481328"/>
            <a:ext cx="100584" cy="100584"/>
          </a:xfrm>
          <a:prstGeom prst="ellipse">
            <a:avLst/>
          </a:prstGeom>
          <a:solidFill>
            <a:srgbClr val="F49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53312" y="1481328"/>
            <a:ext cx="100584" cy="100584"/>
          </a:xfrm>
          <a:prstGeom prst="ellipse">
            <a:avLst/>
          </a:prstGeom>
          <a:solidFill>
            <a:srgbClr val="339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1977" y="1563624"/>
            <a:ext cx="7132320" cy="3139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800" b="1" dirty="0">
                <a:solidFill>
                  <a:srgbClr val="667788"/>
                </a:solidFill>
                <a:latin typeface="Aptos"/>
              </a:rPr>
              <a:t>CAPTURE  — </a:t>
            </a:r>
            <a:r>
              <a:rPr sz="1800" b="1" dirty="0" err="1">
                <a:solidFill>
                  <a:srgbClr val="667788"/>
                </a:solidFill>
                <a:latin typeface="Aptos"/>
              </a:rPr>
              <a:t>producteur</a:t>
            </a:r>
            <a:r>
              <a:rPr sz="1800" b="1" dirty="0">
                <a:solidFill>
                  <a:srgbClr val="667788"/>
                </a:solidFill>
                <a:latin typeface="Aptos"/>
              </a:rPr>
              <a:t> Mastodon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7072" y="1261872"/>
            <a:ext cx="2953512" cy="4224528"/>
          </a:xfrm>
          <a:prstGeom prst="roundRect">
            <a:avLst/>
          </a:prstGeom>
          <a:solidFill>
            <a:srgbClr val="122234"/>
          </a:solidFill>
          <a:ln>
            <a:solidFill>
              <a:srgbClr val="12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979408" y="1627632"/>
            <a:ext cx="2148840" cy="347472"/>
          </a:xfrm>
          <a:prstGeom prst="roundRect">
            <a:avLst/>
          </a:prstGeom>
          <a:solidFill>
            <a:srgbClr val="F49740"/>
          </a:solidFill>
          <a:ln>
            <a:solidFill>
              <a:srgbClr val="F49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52560" y="1700784"/>
            <a:ext cx="2002536" cy="1828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RÉSULTAT CLÉ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1392" y="2331720"/>
            <a:ext cx="2404872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"/>
              </a:rPr>
              <a:t>20 nouvelles</a:t>
            </a:r>
            <a:br/>
            <a:r>
              <a:rPr sz="2500" b="1">
                <a:solidFill>
                  <a:srgbClr val="FFFFFF"/>
                </a:solidFill>
                <a:latin typeface="Aptos"/>
              </a:rPr>
              <a:t>publications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3493008"/>
            <a:ext cx="2286000" cy="11887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50" b="0">
                <a:solidFill>
                  <a:srgbClr val="DAE5EE"/>
                </a:solidFill>
                <a:latin typeface="Aptos"/>
              </a:rPr>
              <a:t>Les publications sont nettoyées puis envoyées au format JSON.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806440"/>
            <a:ext cx="10881360" cy="566928"/>
          </a:xfrm>
          <a:prstGeom prst="roundRect">
            <a:avLst/>
          </a:prstGeom>
          <a:solidFill>
            <a:srgbClr val="EBF3F8"/>
          </a:solidFill>
          <a:ln>
            <a:solidFill>
              <a:srgbClr val="EB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75520" y="6519672"/>
            <a:ext cx="178308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750" b="1">
                <a:solidFill>
                  <a:srgbClr val="667788"/>
                </a:solidFill>
                <a:latin typeface="Aptos"/>
              </a:rPr>
              <a:t>MASTODON SPARK ANALYSIS</a:t>
            </a: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881F110E-D21D-7C75-43BA-2DD444747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75104"/>
            <a:ext cx="7132320" cy="33192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41148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>
                <a:solidFill>
                  <a:srgbClr val="2670B0"/>
                </a:solidFill>
                <a:latin typeface="Aptos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64592"/>
            <a:ext cx="292608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>
                <a:solidFill>
                  <a:srgbClr val="29BEC6"/>
                </a:solidFill>
                <a:latin typeface="Aptos"/>
              </a:rPr>
              <a:t>STREAMING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1051560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400" b="1">
                <a:solidFill>
                  <a:srgbClr val="122234"/>
                </a:solidFill>
                <a:latin typeface="Aptos"/>
              </a:rPr>
              <a:t>Kafka : transport du flux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932688"/>
            <a:ext cx="822960" cy="41148"/>
          </a:xfrm>
          <a:prstGeom prst="rect">
            <a:avLst/>
          </a:prstGeom>
          <a:solidFill>
            <a:srgbClr val="F49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508760"/>
            <a:ext cx="29718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617720" y="1508760"/>
            <a:ext cx="2971800" cy="2468880"/>
          </a:xfrm>
          <a:prstGeom prst="roundRect">
            <a:avLst/>
          </a:prstGeom>
          <a:solidFill>
            <a:srgbClr val="122234"/>
          </a:solidFill>
          <a:ln>
            <a:solidFill>
              <a:srgbClr val="12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412480" y="1508760"/>
            <a:ext cx="29718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1828800"/>
            <a:ext cx="25146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29BEC6"/>
                </a:solidFill>
                <a:latin typeface="Aptos"/>
              </a:rPr>
              <a:t>PRODUCTEUR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23160"/>
            <a:ext cx="251460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000" b="1">
                <a:solidFill>
                  <a:srgbClr val="122234"/>
                </a:solidFill>
                <a:latin typeface="Aptos"/>
              </a:rPr>
              <a:t>Python</a:t>
            </a:r>
            <a:br/>
            <a:r>
              <a:rPr sz="2000" b="1">
                <a:solidFill>
                  <a:srgbClr val="122234"/>
                </a:solidFill>
                <a:latin typeface="Aptos"/>
              </a:rPr>
              <a:t>Mastodon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828800"/>
            <a:ext cx="242316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F49740"/>
                </a:solidFill>
                <a:latin typeface="Aptos"/>
              </a:rPr>
              <a:t>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423160"/>
            <a:ext cx="242316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mastodon_stream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1828800"/>
            <a:ext cx="25146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29BEC6"/>
                </a:solidFill>
                <a:latin typeface="Aptos"/>
              </a:rPr>
              <a:t>CONSOMMATEUR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2423160"/>
            <a:ext cx="251460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000" b="1">
                <a:solidFill>
                  <a:srgbClr val="122234"/>
                </a:solidFill>
                <a:latin typeface="Aptos"/>
              </a:rPr>
              <a:t>Spark</a:t>
            </a:r>
            <a:br/>
            <a:r>
              <a:rPr sz="2000" b="1">
                <a:solidFill>
                  <a:srgbClr val="122234"/>
                </a:solidFill>
                <a:latin typeface="Aptos"/>
              </a:rPr>
              <a:t>Streaming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13632" y="2468880"/>
            <a:ext cx="5029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200" b="1">
                <a:solidFill>
                  <a:srgbClr val="667788"/>
                </a:solidFill>
                <a:latin typeface="Aptos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99248" y="2468880"/>
            <a:ext cx="5029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200" b="1">
                <a:solidFill>
                  <a:srgbClr val="667788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5968" y="4343400"/>
            <a:ext cx="3566160" cy="347472"/>
          </a:xfrm>
          <a:prstGeom prst="roundRect">
            <a:avLst/>
          </a:prstGeom>
          <a:solidFill>
            <a:srgbClr val="EBF3F8"/>
          </a:solidFill>
          <a:ln>
            <a:solidFill>
              <a:srgbClr val="EB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89120" y="4416552"/>
            <a:ext cx="3419856" cy="1828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50" b="1">
                <a:solidFill>
                  <a:srgbClr val="2670B0"/>
                </a:solidFill>
                <a:latin typeface="Aptos"/>
              </a:rPr>
              <a:t>Messages JSON • flux découplé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806440"/>
            <a:ext cx="10881360" cy="566928"/>
          </a:xfrm>
          <a:prstGeom prst="roundRect">
            <a:avLst/>
          </a:prstGeom>
          <a:solidFill>
            <a:srgbClr val="EBF3F8"/>
          </a:solidFill>
          <a:ln>
            <a:solidFill>
              <a:srgbClr val="EB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75520" y="6519672"/>
            <a:ext cx="178308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750" b="1">
                <a:solidFill>
                  <a:srgbClr val="667788"/>
                </a:solidFill>
                <a:latin typeface="Aptos"/>
              </a:rPr>
              <a:t>MASTODON SPARK ANALYSIS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41148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>
                <a:solidFill>
                  <a:srgbClr val="2670B0"/>
                </a:solidFill>
                <a:latin typeface="Aptos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64592"/>
            <a:ext cx="292608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>
                <a:solidFill>
                  <a:srgbClr val="29BEC6"/>
                </a:solidFill>
                <a:latin typeface="Aptos"/>
              </a:rPr>
              <a:t>TRAITEMENT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1051560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400" b="1">
                <a:solidFill>
                  <a:srgbClr val="122234"/>
                </a:solidFill>
                <a:latin typeface="Aptos"/>
              </a:rPr>
              <a:t>Spark Structured Streaming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932688"/>
            <a:ext cx="822960" cy="41148"/>
          </a:xfrm>
          <a:prstGeom prst="rect">
            <a:avLst/>
          </a:prstGeom>
          <a:solidFill>
            <a:srgbClr val="F49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261872"/>
            <a:ext cx="7635240" cy="4224528"/>
          </a:xfrm>
          <a:prstGeom prst="roundRect">
            <a:avLst/>
          </a:prstGeom>
          <a:solidFill>
            <a:srgbClr val="FFFFFF"/>
          </a:solidFill>
          <a:ln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1481328"/>
            <a:ext cx="100584" cy="100584"/>
          </a:xfrm>
          <a:prstGeom prst="ellipse">
            <a:avLst/>
          </a:prstGeom>
          <a:solidFill>
            <a:srgbClr val="D25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33856" y="1481328"/>
            <a:ext cx="100584" cy="100584"/>
          </a:xfrm>
          <a:prstGeom prst="ellipse">
            <a:avLst/>
          </a:prstGeom>
          <a:solidFill>
            <a:srgbClr val="F49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53312" y="1481328"/>
            <a:ext cx="100584" cy="100584"/>
          </a:xfrm>
          <a:prstGeom prst="ellipse">
            <a:avLst/>
          </a:prstGeom>
          <a:solidFill>
            <a:srgbClr val="339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1659" y="1531620"/>
            <a:ext cx="7132320" cy="3139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800" b="1" dirty="0">
                <a:solidFill>
                  <a:srgbClr val="667788"/>
                </a:solidFill>
                <a:latin typeface="Aptos"/>
              </a:rPr>
              <a:t>CAPTURE  — Spark Streaming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7072" y="1261872"/>
            <a:ext cx="2953512" cy="4224528"/>
          </a:xfrm>
          <a:prstGeom prst="roundRect">
            <a:avLst/>
          </a:prstGeom>
          <a:solidFill>
            <a:srgbClr val="122234"/>
          </a:solidFill>
          <a:ln>
            <a:solidFill>
              <a:srgbClr val="12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979408" y="1627632"/>
            <a:ext cx="2148840" cy="347472"/>
          </a:xfrm>
          <a:prstGeom prst="roundRect">
            <a:avLst/>
          </a:prstGeom>
          <a:solidFill>
            <a:srgbClr val="F49740"/>
          </a:solidFill>
          <a:ln>
            <a:solidFill>
              <a:srgbClr val="F49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52560" y="1700784"/>
            <a:ext cx="2002536" cy="1828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RÉSULTAT CLÉ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1392" y="2331720"/>
            <a:ext cx="2404872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"/>
              </a:rPr>
              <a:t>Batch</a:t>
            </a:r>
            <a:br/>
            <a:r>
              <a:rPr sz="2500" b="1">
                <a:solidFill>
                  <a:srgbClr val="FFFFFF"/>
                </a:solidFill>
                <a:latin typeface="Aptos"/>
              </a:rPr>
              <a:t>enregistré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3493008"/>
            <a:ext cx="2286000" cy="11887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50" b="0">
                <a:solidFill>
                  <a:srgbClr val="DAE5EE"/>
                </a:solidFill>
                <a:latin typeface="Aptos"/>
              </a:rPr>
              <a:t>Spark lit Kafka, transforme les données et écrit dans PostgreSQL.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806440"/>
            <a:ext cx="10881360" cy="566928"/>
          </a:xfrm>
          <a:prstGeom prst="roundRect">
            <a:avLst/>
          </a:prstGeom>
          <a:solidFill>
            <a:srgbClr val="EBF3F8"/>
          </a:solidFill>
          <a:ln>
            <a:solidFill>
              <a:srgbClr val="EB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" y="5925312"/>
            <a:ext cx="1051560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70" b="0" dirty="0">
                <a:solidFill>
                  <a:srgbClr val="122234"/>
                </a:solidFill>
                <a:latin typeface="Aptos"/>
              </a:rPr>
              <a:t>À DIRE  •  Spark Structured Streaming </a:t>
            </a:r>
            <a:r>
              <a:rPr sz="1070" b="0" dirty="0" err="1">
                <a:solidFill>
                  <a:srgbClr val="122234"/>
                </a:solidFill>
                <a:latin typeface="Aptos"/>
              </a:rPr>
              <a:t>consomme</a:t>
            </a:r>
            <a:r>
              <a:rPr sz="1070" b="0" dirty="0">
                <a:solidFill>
                  <a:srgbClr val="122234"/>
                </a:solidFill>
                <a:latin typeface="Aptos"/>
              </a:rPr>
              <a:t> le topic, applique le </a:t>
            </a:r>
            <a:r>
              <a:rPr sz="1070" b="0" dirty="0" err="1">
                <a:solidFill>
                  <a:srgbClr val="122234"/>
                </a:solidFill>
                <a:latin typeface="Aptos"/>
              </a:rPr>
              <a:t>schéma</a:t>
            </a:r>
            <a:r>
              <a:rPr sz="1070" b="0" dirty="0">
                <a:solidFill>
                  <a:srgbClr val="122234"/>
                </a:solidFill>
                <a:latin typeface="Aptos"/>
              </a:rPr>
              <a:t> et </a:t>
            </a:r>
            <a:r>
              <a:rPr sz="1070" b="0" dirty="0" err="1">
                <a:solidFill>
                  <a:srgbClr val="122234"/>
                </a:solidFill>
                <a:latin typeface="Aptos"/>
              </a:rPr>
              <a:t>écrit</a:t>
            </a:r>
            <a:r>
              <a:rPr sz="1070" b="0" dirty="0">
                <a:solidFill>
                  <a:srgbClr val="122234"/>
                </a:solidFill>
                <a:latin typeface="Aptos"/>
              </a:rPr>
              <a:t> </a:t>
            </a:r>
            <a:r>
              <a:rPr sz="1070" b="0" dirty="0" err="1">
                <a:solidFill>
                  <a:srgbClr val="122234"/>
                </a:solidFill>
                <a:latin typeface="Aptos"/>
              </a:rPr>
              <a:t>chaque</a:t>
            </a:r>
            <a:r>
              <a:rPr sz="1070" b="0" dirty="0">
                <a:solidFill>
                  <a:srgbClr val="122234"/>
                </a:solidFill>
                <a:latin typeface="Aptos"/>
              </a:rPr>
              <a:t> batch dans PostgreSQL.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6519672"/>
            <a:ext cx="178308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750" b="1">
                <a:solidFill>
                  <a:srgbClr val="667788"/>
                </a:solidFill>
                <a:latin typeface="Aptos"/>
              </a:rPr>
              <a:t>MASTODON SPARK ANALYSIS</a:t>
            </a: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1A27DD2A-B562-CD15-6879-5A544D8F1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048256"/>
            <a:ext cx="7299862" cy="31235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41148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>
                <a:solidFill>
                  <a:srgbClr val="2670B0"/>
                </a:solidFill>
                <a:latin typeface="Aptos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64592"/>
            <a:ext cx="292608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>
                <a:solidFill>
                  <a:srgbClr val="29BEC6"/>
                </a:solidFill>
                <a:latin typeface="Aptos"/>
              </a:rPr>
              <a:t>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1051560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400" b="1">
                <a:solidFill>
                  <a:srgbClr val="122234"/>
                </a:solidFill>
                <a:latin typeface="Aptos"/>
              </a:rPr>
              <a:t>Vérification dans PostgreSQL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932688"/>
            <a:ext cx="822960" cy="41148"/>
          </a:xfrm>
          <a:prstGeom prst="rect">
            <a:avLst/>
          </a:prstGeom>
          <a:solidFill>
            <a:srgbClr val="F49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261872"/>
            <a:ext cx="7635240" cy="4224528"/>
          </a:xfrm>
          <a:prstGeom prst="roundRect">
            <a:avLst/>
          </a:prstGeom>
          <a:solidFill>
            <a:srgbClr val="FFFFFF"/>
          </a:solidFill>
          <a:ln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1481328"/>
            <a:ext cx="100584" cy="100584"/>
          </a:xfrm>
          <a:prstGeom prst="ellipse">
            <a:avLst/>
          </a:prstGeom>
          <a:solidFill>
            <a:srgbClr val="D25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33856" y="1481328"/>
            <a:ext cx="100584" cy="100584"/>
          </a:xfrm>
          <a:prstGeom prst="ellipse">
            <a:avLst/>
          </a:prstGeom>
          <a:solidFill>
            <a:srgbClr val="F49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53312" y="1481328"/>
            <a:ext cx="100584" cy="100584"/>
          </a:xfrm>
          <a:prstGeom prst="ellipse">
            <a:avLst/>
          </a:prstGeom>
          <a:solidFill>
            <a:srgbClr val="339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6" y="1543271"/>
            <a:ext cx="7132320" cy="3139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800" b="1" dirty="0">
                <a:solidFill>
                  <a:srgbClr val="667788"/>
                </a:solidFill>
                <a:latin typeface="Aptos"/>
              </a:rPr>
              <a:t>CAPTURE  — </a:t>
            </a:r>
            <a:r>
              <a:rPr sz="1800" b="1" dirty="0" err="1">
                <a:solidFill>
                  <a:srgbClr val="667788"/>
                </a:solidFill>
                <a:latin typeface="Aptos"/>
              </a:rPr>
              <a:t>requête</a:t>
            </a:r>
            <a:r>
              <a:rPr sz="1800" b="1" dirty="0">
                <a:solidFill>
                  <a:srgbClr val="667788"/>
                </a:solidFill>
                <a:latin typeface="Aptos"/>
              </a:rPr>
              <a:t> 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7072" y="1261872"/>
            <a:ext cx="2953512" cy="4224528"/>
          </a:xfrm>
          <a:prstGeom prst="roundRect">
            <a:avLst/>
          </a:prstGeom>
          <a:solidFill>
            <a:srgbClr val="122234"/>
          </a:solidFill>
          <a:ln>
            <a:solidFill>
              <a:srgbClr val="12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979408" y="1627632"/>
            <a:ext cx="2148840" cy="347472"/>
          </a:xfrm>
          <a:prstGeom prst="roundRect">
            <a:avLst/>
          </a:prstGeom>
          <a:solidFill>
            <a:srgbClr val="F49740"/>
          </a:solidFill>
          <a:ln>
            <a:solidFill>
              <a:srgbClr val="F49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52560" y="1700784"/>
            <a:ext cx="2002536" cy="1828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RÉSULTAT CLÉ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1392" y="2331720"/>
            <a:ext cx="2404872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"/>
              </a:rPr>
              <a:t>38</a:t>
            </a:r>
            <a:br/>
            <a:r>
              <a:rPr sz="2500" b="1">
                <a:solidFill>
                  <a:srgbClr val="FFFFFF"/>
                </a:solidFill>
                <a:latin typeface="Aptos"/>
              </a:rPr>
              <a:t>publications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3493008"/>
            <a:ext cx="2286000" cy="11887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50" b="0">
                <a:solidFill>
                  <a:srgbClr val="DAE5EE"/>
                </a:solidFill>
                <a:latin typeface="Aptos"/>
              </a:rPr>
              <a:t>La table toots confirme que le pipeline temps réel fonctionne.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806440"/>
            <a:ext cx="10881360" cy="566928"/>
          </a:xfrm>
          <a:prstGeom prst="roundRect">
            <a:avLst/>
          </a:prstGeom>
          <a:solidFill>
            <a:srgbClr val="EBF3F8"/>
          </a:solidFill>
          <a:ln>
            <a:solidFill>
              <a:srgbClr val="EB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" y="5925312"/>
            <a:ext cx="1051560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70" b="0" dirty="0">
                <a:solidFill>
                  <a:srgbClr val="122234"/>
                </a:solidFill>
                <a:latin typeface="Aptos"/>
              </a:rPr>
              <a:t>À DIRE  •  Cette </a:t>
            </a:r>
            <a:r>
              <a:rPr sz="1070" b="0" dirty="0" err="1">
                <a:solidFill>
                  <a:srgbClr val="122234"/>
                </a:solidFill>
                <a:latin typeface="Aptos"/>
              </a:rPr>
              <a:t>requête</a:t>
            </a:r>
            <a:r>
              <a:rPr sz="1070" b="0" dirty="0">
                <a:solidFill>
                  <a:srgbClr val="122234"/>
                </a:solidFill>
                <a:latin typeface="Aptos"/>
              </a:rPr>
              <a:t> </a:t>
            </a:r>
            <a:r>
              <a:rPr sz="1070" b="0" dirty="0" err="1">
                <a:solidFill>
                  <a:srgbClr val="122234"/>
                </a:solidFill>
                <a:latin typeface="Aptos"/>
              </a:rPr>
              <a:t>valide</a:t>
            </a:r>
            <a:r>
              <a:rPr sz="1070" b="0" dirty="0">
                <a:solidFill>
                  <a:srgbClr val="122234"/>
                </a:solidFill>
                <a:latin typeface="Aptos"/>
              </a:rPr>
              <a:t> toute la </a:t>
            </a:r>
            <a:r>
              <a:rPr sz="1070" b="0" dirty="0" err="1">
                <a:solidFill>
                  <a:srgbClr val="122234"/>
                </a:solidFill>
                <a:latin typeface="Aptos"/>
              </a:rPr>
              <a:t>chaîne</a:t>
            </a:r>
            <a:r>
              <a:rPr sz="1070" b="0" dirty="0">
                <a:solidFill>
                  <a:srgbClr val="122234"/>
                </a:solidFill>
                <a:latin typeface="Aptos"/>
              </a:rPr>
              <a:t> : 38 publications sont </a:t>
            </a:r>
            <a:r>
              <a:rPr sz="1070" b="0" dirty="0" err="1">
                <a:solidFill>
                  <a:srgbClr val="122234"/>
                </a:solidFill>
                <a:latin typeface="Aptos"/>
              </a:rPr>
              <a:t>réellement</a:t>
            </a:r>
            <a:r>
              <a:rPr sz="1070" b="0" dirty="0">
                <a:solidFill>
                  <a:srgbClr val="122234"/>
                </a:solidFill>
                <a:latin typeface="Aptos"/>
              </a:rPr>
              <a:t> </a:t>
            </a:r>
            <a:r>
              <a:rPr sz="1070" b="0" dirty="0" err="1">
                <a:solidFill>
                  <a:srgbClr val="122234"/>
                </a:solidFill>
                <a:latin typeface="Aptos"/>
              </a:rPr>
              <a:t>présentes</a:t>
            </a:r>
            <a:r>
              <a:rPr sz="1070" b="0" dirty="0">
                <a:solidFill>
                  <a:srgbClr val="122234"/>
                </a:solidFill>
                <a:latin typeface="Aptos"/>
              </a:rPr>
              <a:t> dans la base.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6519672"/>
            <a:ext cx="178308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750" b="1">
                <a:solidFill>
                  <a:srgbClr val="667788"/>
                </a:solidFill>
                <a:latin typeface="Aptos"/>
              </a:rPr>
              <a:t>MASTODON SPARK ANALYSIS</a:t>
            </a: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6482ACDA-4A9E-36B4-ACAE-3B752D588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785" y="2091801"/>
            <a:ext cx="7502406" cy="30504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41148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>
                <a:solidFill>
                  <a:srgbClr val="2670B0"/>
                </a:solidFill>
                <a:latin typeface="Aptos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64592"/>
            <a:ext cx="292608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>
                <a:solidFill>
                  <a:srgbClr val="29BEC6"/>
                </a:solidFill>
                <a:latin typeface="Aptos"/>
              </a:rPr>
              <a:t>TRAITEMENT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1051560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400" b="1">
                <a:solidFill>
                  <a:srgbClr val="122234"/>
                </a:solidFill>
                <a:latin typeface="Aptos"/>
              </a:rPr>
              <a:t>Traitement batch avec Spark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932688"/>
            <a:ext cx="822960" cy="41148"/>
          </a:xfrm>
          <a:prstGeom prst="rect">
            <a:avLst/>
          </a:prstGeom>
          <a:solidFill>
            <a:srgbClr val="F49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13232" y="1600200"/>
            <a:ext cx="24688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216152" y="1901952"/>
            <a:ext cx="1463040" cy="347472"/>
          </a:xfrm>
          <a:prstGeom prst="roundRect">
            <a:avLst/>
          </a:prstGeom>
          <a:solidFill>
            <a:srgbClr val="EBF3F8"/>
          </a:solidFill>
          <a:ln>
            <a:solidFill>
              <a:srgbClr val="EB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89304" y="1975104"/>
            <a:ext cx="1316736" cy="1828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50" b="1">
                <a:solidFill>
                  <a:srgbClr val="2670B0"/>
                </a:solidFill>
                <a:latin typeface="Aptos"/>
              </a:rPr>
              <a:t>Total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606040"/>
            <a:ext cx="2011680" cy="7315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500" b="1">
                <a:solidFill>
                  <a:srgbClr val="122234"/>
                </a:solidFill>
                <a:latin typeface="Aptos"/>
              </a:rPr>
              <a:t>Nombre de publications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2152" y="1600200"/>
            <a:ext cx="24688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005072" y="1901952"/>
            <a:ext cx="1463040" cy="347472"/>
          </a:xfrm>
          <a:prstGeom prst="roundRect">
            <a:avLst/>
          </a:prstGeom>
          <a:solidFill>
            <a:srgbClr val="EBF3F8"/>
          </a:solidFill>
          <a:ln>
            <a:solidFill>
              <a:srgbClr val="EB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78224" y="1975104"/>
            <a:ext cx="1316736" cy="1828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50" b="1">
                <a:solidFill>
                  <a:srgbClr val="2670B0"/>
                </a:solidFill>
                <a:latin typeface="Aptos"/>
              </a:rPr>
              <a:t>Langues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0752" y="2606040"/>
            <a:ext cx="2011680" cy="7315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500" b="1">
                <a:solidFill>
                  <a:srgbClr val="122234"/>
                </a:solidFill>
                <a:latin typeface="Aptos"/>
              </a:rPr>
              <a:t>Répartition linguistique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1072" y="1600200"/>
            <a:ext cx="24688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793992" y="1901952"/>
            <a:ext cx="1463040" cy="347472"/>
          </a:xfrm>
          <a:prstGeom prst="roundRect">
            <a:avLst/>
          </a:prstGeom>
          <a:solidFill>
            <a:srgbClr val="EBF3F8"/>
          </a:solidFill>
          <a:ln>
            <a:solidFill>
              <a:srgbClr val="EB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67144" y="1975104"/>
            <a:ext cx="1316736" cy="1828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50" b="1">
                <a:solidFill>
                  <a:srgbClr val="2670B0"/>
                </a:solidFill>
                <a:latin typeface="Aptos"/>
              </a:rPr>
              <a:t>Utilisateurs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2606040"/>
            <a:ext cx="2011680" cy="7315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500" b="1">
                <a:solidFill>
                  <a:srgbClr val="122234"/>
                </a:solidFill>
                <a:latin typeface="Aptos"/>
              </a:rPr>
              <a:t>Les plus actifs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79991" y="1600200"/>
            <a:ext cx="24688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582911" y="1901952"/>
            <a:ext cx="1463040" cy="347472"/>
          </a:xfrm>
          <a:prstGeom prst="roundRect">
            <a:avLst/>
          </a:prstGeom>
          <a:solidFill>
            <a:srgbClr val="EBF3F8"/>
          </a:solidFill>
          <a:ln>
            <a:solidFill>
              <a:srgbClr val="EB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56063" y="1975104"/>
            <a:ext cx="1316736" cy="1828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50" b="1">
                <a:solidFill>
                  <a:srgbClr val="2670B0"/>
                </a:solidFill>
                <a:latin typeface="Aptos"/>
              </a:rPr>
              <a:t>Reblogs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08591" y="2606040"/>
            <a:ext cx="2011680" cy="7315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500" b="1">
                <a:solidFill>
                  <a:srgbClr val="122234"/>
                </a:solidFill>
                <a:latin typeface="Aptos"/>
              </a:rPr>
              <a:t>Publications les plus repartagées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65960" y="4389120"/>
            <a:ext cx="8229600" cy="594360"/>
          </a:xfrm>
          <a:prstGeom prst="roundRect">
            <a:avLst/>
          </a:prstGeom>
          <a:solidFill>
            <a:srgbClr val="122234"/>
          </a:solidFill>
          <a:ln>
            <a:solidFill>
              <a:srgbClr val="12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194560" y="4553712"/>
            <a:ext cx="7772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Le batch analyse les données déjà stockées, en complément du temps réel.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806440"/>
            <a:ext cx="10881360" cy="566928"/>
          </a:xfrm>
          <a:prstGeom prst="roundRect">
            <a:avLst/>
          </a:prstGeom>
          <a:solidFill>
            <a:srgbClr val="EBF3F8"/>
          </a:solidFill>
          <a:ln>
            <a:solidFill>
              <a:srgbClr val="EB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1248" y="5925312"/>
            <a:ext cx="1051560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70" b="0" dirty="0">
                <a:solidFill>
                  <a:srgbClr val="122234"/>
                </a:solidFill>
                <a:latin typeface="Aptos"/>
              </a:rPr>
              <a:t>À DIRE  •  Le streaming </a:t>
            </a:r>
            <a:r>
              <a:rPr sz="1070" b="0" dirty="0" err="1">
                <a:solidFill>
                  <a:srgbClr val="122234"/>
                </a:solidFill>
                <a:latin typeface="Aptos"/>
              </a:rPr>
              <a:t>traite</a:t>
            </a:r>
            <a:r>
              <a:rPr sz="1070" b="0" dirty="0">
                <a:solidFill>
                  <a:srgbClr val="122234"/>
                </a:solidFill>
                <a:latin typeface="Aptos"/>
              </a:rPr>
              <a:t> </a:t>
            </a:r>
            <a:r>
              <a:rPr sz="1070" b="0" dirty="0" err="1">
                <a:solidFill>
                  <a:srgbClr val="122234"/>
                </a:solidFill>
                <a:latin typeface="Aptos"/>
              </a:rPr>
              <a:t>l’arrivée</a:t>
            </a:r>
            <a:r>
              <a:rPr sz="1070" b="0" dirty="0">
                <a:solidFill>
                  <a:srgbClr val="122234"/>
                </a:solidFill>
                <a:latin typeface="Aptos"/>
              </a:rPr>
              <a:t> des données ; le batch me </a:t>
            </a:r>
            <a:r>
              <a:rPr sz="1070" b="0" dirty="0" err="1">
                <a:solidFill>
                  <a:srgbClr val="122234"/>
                </a:solidFill>
                <a:latin typeface="Aptos"/>
              </a:rPr>
              <a:t>permet</a:t>
            </a:r>
            <a:r>
              <a:rPr sz="1070" b="0" dirty="0">
                <a:solidFill>
                  <a:srgbClr val="122234"/>
                </a:solidFill>
                <a:latin typeface="Aptos"/>
              </a:rPr>
              <a:t> ensuite de </a:t>
            </a:r>
            <a:r>
              <a:rPr sz="1070" b="0" dirty="0" err="1">
                <a:solidFill>
                  <a:srgbClr val="122234"/>
                </a:solidFill>
                <a:latin typeface="Aptos"/>
              </a:rPr>
              <a:t>calculer</a:t>
            </a:r>
            <a:r>
              <a:rPr sz="1070" b="0" dirty="0">
                <a:solidFill>
                  <a:srgbClr val="122234"/>
                </a:solidFill>
                <a:latin typeface="Aptos"/>
              </a:rPr>
              <a:t> des </a:t>
            </a:r>
            <a:r>
              <a:rPr sz="1070" b="0" dirty="0" err="1">
                <a:solidFill>
                  <a:srgbClr val="122234"/>
                </a:solidFill>
                <a:latin typeface="Aptos"/>
              </a:rPr>
              <a:t>statistiques</a:t>
            </a:r>
            <a:r>
              <a:rPr sz="1070" b="0" dirty="0">
                <a:solidFill>
                  <a:srgbClr val="122234"/>
                </a:solidFill>
                <a:latin typeface="Aptos"/>
              </a:rPr>
              <a:t> sur l’ensemble </a:t>
            </a:r>
            <a:r>
              <a:rPr sz="1070" b="0" dirty="0" err="1">
                <a:solidFill>
                  <a:srgbClr val="122234"/>
                </a:solidFill>
                <a:latin typeface="Aptos"/>
              </a:rPr>
              <a:t>stocké</a:t>
            </a:r>
            <a:r>
              <a:rPr sz="1070" b="0" dirty="0">
                <a:solidFill>
                  <a:srgbClr val="122234"/>
                </a:solidFill>
                <a:latin typeface="Aptos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6519672"/>
            <a:ext cx="178308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750" b="1">
                <a:solidFill>
                  <a:srgbClr val="667788"/>
                </a:solidFill>
                <a:latin typeface="Aptos"/>
              </a:rPr>
              <a:t>MASTODON SPARK ANALYSIS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41148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>
                <a:solidFill>
                  <a:srgbClr val="2670B0"/>
                </a:solidFill>
                <a:latin typeface="Aptos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64592"/>
            <a:ext cx="292608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>
                <a:solidFill>
                  <a:srgbClr val="29BEC6"/>
                </a:solidFill>
                <a:latin typeface="Aptos"/>
              </a:rPr>
              <a:t>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1051560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400" b="1">
                <a:solidFill>
                  <a:srgbClr val="122234"/>
                </a:solidFill>
                <a:latin typeface="Aptos"/>
              </a:rPr>
              <a:t>Dataset d’entraînement : Sentiment140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932688"/>
            <a:ext cx="822960" cy="41148"/>
          </a:xfrm>
          <a:prstGeom prst="rect">
            <a:avLst/>
          </a:prstGeom>
          <a:solidFill>
            <a:srgbClr val="F49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4572000" cy="4069080"/>
          </a:xfrm>
          <a:prstGeom prst="roundRect">
            <a:avLst/>
          </a:prstGeom>
          <a:solidFill>
            <a:srgbClr val="122234"/>
          </a:solidFill>
          <a:ln>
            <a:solidFill>
              <a:srgbClr val="12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39319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200" b="1">
                <a:solidFill>
                  <a:srgbClr val="29BEC6"/>
                </a:solidFill>
                <a:latin typeface="Aptos"/>
              </a:rPr>
              <a:t>SENTIMENT140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3931920" cy="6858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3100" b="1">
                <a:solidFill>
                  <a:srgbClr val="FFFFFF"/>
                </a:solidFill>
                <a:latin typeface="Aptos"/>
              </a:rPr>
              <a:t>1,6 million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63240"/>
            <a:ext cx="39319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200" b="0">
                <a:solidFill>
                  <a:srgbClr val="D7E4ED"/>
                </a:solidFill>
                <a:latin typeface="Aptos"/>
              </a:rPr>
              <a:t>de tweets étiquetés dans le dataset original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25880" y="3977639"/>
            <a:ext cx="1417320" cy="347472"/>
          </a:xfrm>
          <a:prstGeom prst="roundRect">
            <a:avLst/>
          </a:prstGeom>
          <a:solidFill>
            <a:srgbClr val="339B70"/>
          </a:solidFill>
          <a:ln>
            <a:solidFill>
              <a:srgbClr val="339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99032" y="4050791"/>
            <a:ext cx="1271016" cy="1828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POSITIF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3977639"/>
            <a:ext cx="1417320" cy="347472"/>
          </a:xfrm>
          <a:prstGeom prst="roundRect">
            <a:avLst/>
          </a:prstGeom>
          <a:solidFill>
            <a:srgbClr val="D25353"/>
          </a:solidFill>
          <a:ln>
            <a:solidFill>
              <a:srgbClr val="D25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19272" y="4050791"/>
            <a:ext cx="1271016" cy="1828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NÉGATIF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23560" y="1371600"/>
            <a:ext cx="585216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89320" y="1783080"/>
            <a:ext cx="512064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F49740"/>
                </a:solidFill>
                <a:latin typeface="Aptos"/>
              </a:rPr>
              <a:t>ÉCHANTILLON UTILISÉ DANS LE PROJET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2423160"/>
            <a:ext cx="5120640" cy="594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700" b="1">
                <a:solidFill>
                  <a:srgbClr val="193F69"/>
                </a:solidFill>
                <a:latin typeface="Aptos"/>
              </a:rPr>
              <a:t>100 000 tweets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3154680"/>
            <a:ext cx="233172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800" b="1">
                <a:solidFill>
                  <a:srgbClr val="339B70"/>
                </a:solidFill>
                <a:latin typeface="Aptos"/>
              </a:rPr>
              <a:t>50 000</a:t>
            </a:r>
            <a:br/>
            <a:r>
              <a:rPr sz="1800" b="1">
                <a:solidFill>
                  <a:srgbClr val="339B70"/>
                </a:solidFill>
                <a:latin typeface="Aptos"/>
              </a:rPr>
              <a:t>positifs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3154680"/>
            <a:ext cx="233172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800" b="1">
                <a:solidFill>
                  <a:srgbClr val="D25353"/>
                </a:solidFill>
                <a:latin typeface="Aptos"/>
              </a:rPr>
              <a:t>50 000</a:t>
            </a:r>
            <a:br/>
            <a:r>
              <a:rPr sz="1800" b="1">
                <a:solidFill>
                  <a:srgbClr val="D25353"/>
                </a:solidFill>
                <a:latin typeface="Aptos"/>
              </a:rPr>
              <a:t>négatifs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4343400"/>
            <a:ext cx="49377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300" b="0">
                <a:solidFill>
                  <a:srgbClr val="667788"/>
                </a:solidFill>
                <a:latin typeface="Aptos"/>
              </a:rPr>
              <a:t>Échantillon équilibré pour l’entraînement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806440"/>
            <a:ext cx="10881360" cy="566928"/>
          </a:xfrm>
          <a:prstGeom prst="roundRect">
            <a:avLst/>
          </a:prstGeom>
          <a:solidFill>
            <a:srgbClr val="EBF3F8"/>
          </a:solidFill>
          <a:ln>
            <a:solidFill>
              <a:srgbClr val="EB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" y="5925312"/>
            <a:ext cx="1051560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70" b="0" dirty="0">
                <a:solidFill>
                  <a:srgbClr val="122234"/>
                </a:solidFill>
                <a:latin typeface="Aptos"/>
              </a:rPr>
              <a:t>À DIRE  •  </a:t>
            </a:r>
            <a:r>
              <a:rPr sz="1070" b="0" dirty="0" err="1">
                <a:solidFill>
                  <a:srgbClr val="122234"/>
                </a:solidFill>
                <a:latin typeface="Aptos"/>
              </a:rPr>
              <a:t>J’ai</a:t>
            </a:r>
            <a:r>
              <a:rPr sz="1070" b="0" dirty="0">
                <a:solidFill>
                  <a:srgbClr val="122234"/>
                </a:solidFill>
                <a:latin typeface="Aptos"/>
              </a:rPr>
              <a:t> </a:t>
            </a:r>
            <a:r>
              <a:rPr sz="1070" b="0" dirty="0" err="1">
                <a:solidFill>
                  <a:srgbClr val="122234"/>
                </a:solidFill>
                <a:latin typeface="Aptos"/>
              </a:rPr>
              <a:t>choisi</a:t>
            </a:r>
            <a:r>
              <a:rPr sz="1070" b="0" dirty="0">
                <a:solidFill>
                  <a:srgbClr val="122234"/>
                </a:solidFill>
                <a:latin typeface="Aptos"/>
              </a:rPr>
              <a:t> Sentiment140 car les tweets sont déjà </a:t>
            </a:r>
            <a:r>
              <a:rPr sz="1070" b="0" dirty="0" err="1">
                <a:solidFill>
                  <a:srgbClr val="122234"/>
                </a:solidFill>
                <a:latin typeface="Aptos"/>
              </a:rPr>
              <a:t>étiquetés</a:t>
            </a:r>
            <a:r>
              <a:rPr sz="1070" b="0" dirty="0">
                <a:solidFill>
                  <a:srgbClr val="122234"/>
                </a:solidFill>
                <a:latin typeface="Aptos"/>
              </a:rPr>
              <a:t>. </a:t>
            </a:r>
            <a:r>
              <a:rPr sz="1070" b="0" dirty="0" err="1">
                <a:solidFill>
                  <a:srgbClr val="122234"/>
                </a:solidFill>
                <a:latin typeface="Aptos"/>
              </a:rPr>
              <a:t>J’utilise</a:t>
            </a:r>
            <a:r>
              <a:rPr sz="1070" b="0" dirty="0">
                <a:solidFill>
                  <a:srgbClr val="122234"/>
                </a:solidFill>
                <a:latin typeface="Aptos"/>
              </a:rPr>
              <a:t> 100 000 tweets </a:t>
            </a:r>
            <a:r>
              <a:rPr sz="1070" b="0" dirty="0" err="1">
                <a:solidFill>
                  <a:srgbClr val="122234"/>
                </a:solidFill>
                <a:latin typeface="Aptos"/>
              </a:rPr>
              <a:t>équilibrés</a:t>
            </a:r>
            <a:r>
              <a:rPr sz="1070" b="0" dirty="0">
                <a:solidFill>
                  <a:srgbClr val="122234"/>
                </a:solidFill>
                <a:latin typeface="Aptos"/>
              </a:rPr>
              <a:t> pour </a:t>
            </a:r>
            <a:r>
              <a:rPr sz="1070" b="0" dirty="0" err="1">
                <a:solidFill>
                  <a:srgbClr val="122234"/>
                </a:solidFill>
                <a:latin typeface="Aptos"/>
              </a:rPr>
              <a:t>réduire</a:t>
            </a:r>
            <a:r>
              <a:rPr sz="1070" b="0" dirty="0">
                <a:solidFill>
                  <a:srgbClr val="122234"/>
                </a:solidFill>
                <a:latin typeface="Aptos"/>
              </a:rPr>
              <a:t> le temps de </a:t>
            </a:r>
            <a:r>
              <a:rPr sz="1070" b="0" dirty="0" err="1">
                <a:solidFill>
                  <a:srgbClr val="122234"/>
                </a:solidFill>
                <a:latin typeface="Aptos"/>
              </a:rPr>
              <a:t>calcul</a:t>
            </a:r>
            <a:r>
              <a:rPr sz="1070" b="0" dirty="0">
                <a:solidFill>
                  <a:srgbClr val="122234"/>
                </a:solidFill>
                <a:latin typeface="Aptos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6519672"/>
            <a:ext cx="178308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750" b="1">
                <a:solidFill>
                  <a:srgbClr val="667788"/>
                </a:solidFill>
                <a:latin typeface="Aptos"/>
              </a:rPr>
              <a:t>MASTODON SPARK ANALYSIS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41148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>
                <a:solidFill>
                  <a:srgbClr val="2670B0"/>
                </a:solidFill>
                <a:latin typeface="Aptos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64592"/>
            <a:ext cx="292608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>
                <a:solidFill>
                  <a:srgbClr val="29BEC6"/>
                </a:solidFill>
                <a:latin typeface="Aptos"/>
              </a:rPr>
              <a:t>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1051560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400" b="1">
                <a:solidFill>
                  <a:srgbClr val="122234"/>
                </a:solidFill>
                <a:latin typeface="Aptos"/>
              </a:rPr>
              <a:t>Préparation du texte pour le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932688"/>
            <a:ext cx="822960" cy="41148"/>
          </a:xfrm>
          <a:prstGeom prst="rect">
            <a:avLst/>
          </a:prstGeom>
          <a:solidFill>
            <a:srgbClr val="F49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508760"/>
            <a:ext cx="24688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1737360"/>
            <a:ext cx="594360" cy="347472"/>
          </a:xfrm>
          <a:prstGeom prst="roundRect">
            <a:avLst/>
          </a:prstGeom>
          <a:solidFill>
            <a:srgbClr val="29BEC6"/>
          </a:solidFill>
          <a:ln>
            <a:solidFill>
              <a:srgbClr val="29B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1810512"/>
            <a:ext cx="448056" cy="1828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23160"/>
            <a:ext cx="210312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600" b="1">
                <a:solidFill>
                  <a:srgbClr val="122234"/>
                </a:solidFill>
                <a:latin typeface="Aptos"/>
              </a:rPr>
              <a:t>RegexTokenizer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46120"/>
            <a:ext cx="1956816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50" b="0">
                <a:solidFill>
                  <a:srgbClr val="667788"/>
                </a:solidFill>
                <a:latin typeface="Aptos"/>
              </a:rPr>
              <a:t>Découper le texte en mots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36976" y="2834640"/>
            <a:ext cx="292608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800" b="1">
                <a:solidFill>
                  <a:srgbClr val="667788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38727" y="1508760"/>
            <a:ext cx="24688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703320" y="1737360"/>
            <a:ext cx="594360" cy="347472"/>
          </a:xfrm>
          <a:prstGeom prst="roundRect">
            <a:avLst/>
          </a:prstGeom>
          <a:solidFill>
            <a:srgbClr val="2670B0"/>
          </a:solidFill>
          <a:ln>
            <a:solidFill>
              <a:srgbClr val="267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76472" y="1810512"/>
            <a:ext cx="448056" cy="1828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1607" y="2423160"/>
            <a:ext cx="210312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600" b="1">
                <a:solidFill>
                  <a:srgbClr val="122234"/>
                </a:solidFill>
                <a:latin typeface="Aptos"/>
              </a:rPr>
              <a:t>StopWordsRemover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59" y="3246120"/>
            <a:ext cx="1956816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50" b="0">
                <a:solidFill>
                  <a:srgbClr val="667788"/>
                </a:solidFill>
                <a:latin typeface="Aptos"/>
              </a:rPr>
              <a:t>Retirer les mots peu informatifs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25896" y="2834640"/>
            <a:ext cx="292608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800" b="1">
                <a:solidFill>
                  <a:srgbClr val="667788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7648" y="1508760"/>
            <a:ext cx="24688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92240" y="1737360"/>
            <a:ext cx="594360" cy="347472"/>
          </a:xfrm>
          <a:prstGeom prst="roundRect">
            <a:avLst/>
          </a:prstGeom>
          <a:solidFill>
            <a:srgbClr val="F49740"/>
          </a:solidFill>
          <a:ln>
            <a:solidFill>
              <a:srgbClr val="F49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65392" y="1810512"/>
            <a:ext cx="448056" cy="1828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2423160"/>
            <a:ext cx="210312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600" b="1">
                <a:solidFill>
                  <a:srgbClr val="122234"/>
                </a:solidFill>
                <a:latin typeface="Aptos"/>
              </a:rPr>
              <a:t>HashingTF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246120"/>
            <a:ext cx="1956816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50" b="0">
                <a:solidFill>
                  <a:srgbClr val="667788"/>
                </a:solidFill>
                <a:latin typeface="Aptos"/>
              </a:rPr>
              <a:t>Transformer les mots en fréquences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14816" y="2834640"/>
            <a:ext cx="292608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800" b="1">
                <a:solidFill>
                  <a:srgbClr val="667788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16567" y="1508760"/>
            <a:ext cx="24688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281159" y="1737360"/>
            <a:ext cx="594360" cy="347472"/>
          </a:xfrm>
          <a:prstGeom prst="roundRect">
            <a:avLst/>
          </a:prstGeom>
          <a:solidFill>
            <a:srgbClr val="339B70"/>
          </a:solidFill>
          <a:ln>
            <a:solidFill>
              <a:srgbClr val="339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54311" y="1810512"/>
            <a:ext cx="448056" cy="1828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9447" y="2423160"/>
            <a:ext cx="210312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600" b="1">
                <a:solidFill>
                  <a:srgbClr val="122234"/>
                </a:solidFill>
                <a:latin typeface="Aptos"/>
              </a:rPr>
              <a:t>IDF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599" y="3246120"/>
            <a:ext cx="1956816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50" b="0">
                <a:solidFill>
                  <a:srgbClr val="667788"/>
                </a:solidFill>
                <a:latin typeface="Aptos"/>
              </a:rPr>
              <a:t>Pondérer l’importance des termes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5806440"/>
            <a:ext cx="10881360" cy="566928"/>
          </a:xfrm>
          <a:prstGeom prst="roundRect">
            <a:avLst/>
          </a:prstGeom>
          <a:solidFill>
            <a:srgbClr val="EBF3F8"/>
          </a:solidFill>
          <a:ln>
            <a:solidFill>
              <a:srgbClr val="EB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1248" y="5925312"/>
            <a:ext cx="1051560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70" b="0" dirty="0">
                <a:solidFill>
                  <a:srgbClr val="122234"/>
                </a:solidFill>
                <a:latin typeface="Aptos"/>
              </a:rPr>
              <a:t>À DIRE  •  Le modèle ne </a:t>
            </a:r>
            <a:r>
              <a:rPr sz="1070" b="0" dirty="0" err="1">
                <a:solidFill>
                  <a:srgbClr val="122234"/>
                </a:solidFill>
                <a:latin typeface="Aptos"/>
              </a:rPr>
              <a:t>comprend</a:t>
            </a:r>
            <a:r>
              <a:rPr sz="1070" b="0" dirty="0">
                <a:solidFill>
                  <a:srgbClr val="122234"/>
                </a:solidFill>
                <a:latin typeface="Aptos"/>
              </a:rPr>
              <a:t> pas </a:t>
            </a:r>
            <a:r>
              <a:rPr sz="1070" b="0" dirty="0" err="1">
                <a:solidFill>
                  <a:srgbClr val="122234"/>
                </a:solidFill>
                <a:latin typeface="Aptos"/>
              </a:rPr>
              <a:t>directement</a:t>
            </a:r>
            <a:r>
              <a:rPr sz="1070" b="0" dirty="0">
                <a:solidFill>
                  <a:srgbClr val="122234"/>
                </a:solidFill>
                <a:latin typeface="Aptos"/>
              </a:rPr>
              <a:t> le texte : je le </a:t>
            </a:r>
            <a:r>
              <a:rPr sz="1070" b="0" dirty="0" err="1">
                <a:solidFill>
                  <a:srgbClr val="122234"/>
                </a:solidFill>
                <a:latin typeface="Aptos"/>
              </a:rPr>
              <a:t>transforme</a:t>
            </a:r>
            <a:r>
              <a:rPr sz="1070" b="0" dirty="0">
                <a:solidFill>
                  <a:srgbClr val="122234"/>
                </a:solidFill>
                <a:latin typeface="Aptos"/>
              </a:rPr>
              <a:t> en </a:t>
            </a:r>
            <a:r>
              <a:rPr sz="1070" b="0" dirty="0" err="1">
                <a:solidFill>
                  <a:srgbClr val="122234"/>
                </a:solidFill>
                <a:latin typeface="Aptos"/>
              </a:rPr>
              <a:t>caractéristiques</a:t>
            </a:r>
            <a:r>
              <a:rPr sz="1070" b="0" dirty="0">
                <a:solidFill>
                  <a:srgbClr val="122234"/>
                </a:solidFill>
                <a:latin typeface="Aptos"/>
              </a:rPr>
              <a:t> </a:t>
            </a:r>
            <a:r>
              <a:rPr sz="1070" b="0" dirty="0" err="1">
                <a:solidFill>
                  <a:srgbClr val="122234"/>
                </a:solidFill>
                <a:latin typeface="Aptos"/>
              </a:rPr>
              <a:t>numériques</a:t>
            </a:r>
            <a:r>
              <a:rPr sz="1070" b="0" dirty="0">
                <a:solidFill>
                  <a:srgbClr val="122234"/>
                </a:solidFill>
                <a:latin typeface="Aptos"/>
              </a:rPr>
              <a:t> en quatre étapes.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6519672"/>
            <a:ext cx="178308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750" b="1">
                <a:solidFill>
                  <a:srgbClr val="667788"/>
                </a:solidFill>
                <a:latin typeface="Aptos"/>
              </a:rPr>
              <a:t>MASTODON SPARK ANALYSIS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41148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>
                <a:solidFill>
                  <a:srgbClr val="2670B0"/>
                </a:solidFill>
                <a:latin typeface="Aptos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64592"/>
            <a:ext cx="292608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>
                <a:solidFill>
                  <a:srgbClr val="29BEC6"/>
                </a:solidFill>
                <a:latin typeface="Aptos"/>
              </a:rPr>
              <a:t>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1051560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400" b="1">
                <a:solidFill>
                  <a:srgbClr val="122234"/>
                </a:solidFill>
                <a:latin typeface="Aptos"/>
              </a:rPr>
              <a:t>Séparation des données et modèle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932688"/>
            <a:ext cx="822960" cy="41148"/>
          </a:xfrm>
          <a:prstGeom prst="rect">
            <a:avLst/>
          </a:prstGeom>
          <a:solidFill>
            <a:srgbClr val="F49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46634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29BEC6"/>
                </a:solidFill>
                <a:latin typeface="Aptos"/>
              </a:rPr>
              <a:t>SÉPARATION DES DONNÉES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18288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700" b="1">
                <a:solidFill>
                  <a:srgbClr val="193F69"/>
                </a:solidFill>
                <a:latin typeface="Aptos"/>
              </a:rPr>
              <a:t>≈ 80 %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2468880"/>
            <a:ext cx="18288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700" b="1">
                <a:solidFill>
                  <a:srgbClr val="F49740"/>
                </a:solidFill>
                <a:latin typeface="Aptos"/>
              </a:rPr>
              <a:t>≈ 20 %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54680"/>
            <a:ext cx="18288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300" b="1">
                <a:solidFill>
                  <a:srgbClr val="667788"/>
                </a:solidFill>
                <a:latin typeface="Aptos"/>
              </a:rPr>
              <a:t>Entraînement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3154680"/>
            <a:ext cx="18288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300" b="1">
                <a:solidFill>
                  <a:srgbClr val="667788"/>
                </a:solidFill>
                <a:latin typeface="Aptos"/>
              </a:rPr>
              <a:t>Test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63040"/>
            <a:ext cx="5166360" cy="3474720"/>
          </a:xfrm>
          <a:prstGeom prst="roundRect">
            <a:avLst/>
          </a:prstGeom>
          <a:solidFill>
            <a:srgbClr val="122234"/>
          </a:solidFill>
          <a:ln>
            <a:solidFill>
              <a:srgbClr val="12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29400" y="1783080"/>
            <a:ext cx="44348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29BEC6"/>
                </a:solidFill>
                <a:latin typeface="Aptos"/>
              </a:rPr>
              <a:t>MODÈLE CHOISI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514600"/>
            <a:ext cx="443484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"/>
              </a:rPr>
              <a:t>Régression</a:t>
            </a:r>
            <a:br/>
            <a:r>
              <a:rPr sz="2500" b="1">
                <a:solidFill>
                  <a:srgbClr val="FFFFFF"/>
                </a:solidFill>
                <a:latin typeface="Aptos"/>
              </a:rPr>
              <a:t>logistique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794760"/>
            <a:ext cx="443484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1">
                <a:solidFill>
                  <a:srgbClr val="F49740"/>
                </a:solidFill>
                <a:latin typeface="Aptos"/>
              </a:rPr>
              <a:t>Spark MLlib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806440"/>
            <a:ext cx="10881360" cy="566928"/>
          </a:xfrm>
          <a:prstGeom prst="roundRect">
            <a:avLst/>
          </a:prstGeom>
          <a:solidFill>
            <a:srgbClr val="EBF3F8"/>
          </a:solidFill>
          <a:ln>
            <a:solidFill>
              <a:srgbClr val="EB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" y="5925312"/>
            <a:ext cx="1051560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70" b="0" dirty="0">
                <a:solidFill>
                  <a:srgbClr val="122234"/>
                </a:solidFill>
                <a:latin typeface="Aptos"/>
              </a:rPr>
              <a:t>À DIRE  •  Je garde une </a:t>
            </a:r>
            <a:r>
              <a:rPr sz="1070" b="0" dirty="0" err="1">
                <a:solidFill>
                  <a:srgbClr val="122234"/>
                </a:solidFill>
                <a:latin typeface="Aptos"/>
              </a:rPr>
              <a:t>partie</a:t>
            </a:r>
            <a:r>
              <a:rPr sz="1070" b="0" dirty="0">
                <a:solidFill>
                  <a:srgbClr val="122234"/>
                </a:solidFill>
                <a:latin typeface="Aptos"/>
              </a:rPr>
              <a:t> des tweets pour tester le modèle sur des données </a:t>
            </a:r>
            <a:r>
              <a:rPr sz="1070" b="0" dirty="0" err="1">
                <a:solidFill>
                  <a:srgbClr val="122234"/>
                </a:solidFill>
                <a:latin typeface="Aptos"/>
              </a:rPr>
              <a:t>qu’il</a:t>
            </a:r>
            <a:r>
              <a:rPr sz="1070" b="0" dirty="0">
                <a:solidFill>
                  <a:srgbClr val="122234"/>
                </a:solidFill>
                <a:latin typeface="Aptos"/>
              </a:rPr>
              <a:t> </a:t>
            </a:r>
            <a:r>
              <a:rPr sz="1070" b="0" dirty="0" err="1">
                <a:solidFill>
                  <a:srgbClr val="122234"/>
                </a:solidFill>
                <a:latin typeface="Aptos"/>
              </a:rPr>
              <a:t>n’a</a:t>
            </a:r>
            <a:r>
              <a:rPr sz="1070" b="0" dirty="0">
                <a:solidFill>
                  <a:srgbClr val="122234"/>
                </a:solidFill>
                <a:latin typeface="Aptos"/>
              </a:rPr>
              <a:t> jamais </a:t>
            </a:r>
            <a:r>
              <a:rPr sz="1070" b="0" dirty="0" err="1">
                <a:solidFill>
                  <a:srgbClr val="122234"/>
                </a:solidFill>
                <a:latin typeface="Aptos"/>
              </a:rPr>
              <a:t>vues</a:t>
            </a:r>
            <a:r>
              <a:rPr sz="1070" b="0" dirty="0">
                <a:solidFill>
                  <a:srgbClr val="122234"/>
                </a:solidFill>
                <a:latin typeface="Aptos"/>
              </a:rPr>
              <a:t> pendant </a:t>
            </a:r>
            <a:r>
              <a:rPr sz="1070" b="0" dirty="0" err="1">
                <a:solidFill>
                  <a:srgbClr val="122234"/>
                </a:solidFill>
                <a:latin typeface="Aptos"/>
              </a:rPr>
              <a:t>l’entraînement</a:t>
            </a:r>
            <a:r>
              <a:rPr sz="1070" b="0" dirty="0">
                <a:solidFill>
                  <a:srgbClr val="122234"/>
                </a:solidFill>
                <a:latin typeface="Aptos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6519672"/>
            <a:ext cx="178308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750" b="1">
                <a:solidFill>
                  <a:srgbClr val="667788"/>
                </a:solidFill>
                <a:latin typeface="Aptos"/>
              </a:rPr>
              <a:t>MASTODON SPARK ANALYSIS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41148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>
                <a:solidFill>
                  <a:srgbClr val="2670B0"/>
                </a:solidFill>
                <a:latin typeface="Aptos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64592"/>
            <a:ext cx="292608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>
                <a:solidFill>
                  <a:srgbClr val="29BEC6"/>
                </a:solidFill>
                <a:latin typeface="Aptos"/>
              </a:rPr>
              <a:t>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1051560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400" b="1">
                <a:solidFill>
                  <a:srgbClr val="122234"/>
                </a:solidFill>
                <a:latin typeface="Aptos"/>
              </a:rPr>
              <a:t>Entraînement et évaluation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932688"/>
            <a:ext cx="822960" cy="41148"/>
          </a:xfrm>
          <a:prstGeom prst="rect">
            <a:avLst/>
          </a:prstGeom>
          <a:solidFill>
            <a:srgbClr val="F49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261872"/>
            <a:ext cx="7635240" cy="4224528"/>
          </a:xfrm>
          <a:prstGeom prst="roundRect">
            <a:avLst/>
          </a:prstGeom>
          <a:solidFill>
            <a:srgbClr val="FFFFFF"/>
          </a:solidFill>
          <a:ln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1481328"/>
            <a:ext cx="100584" cy="100584"/>
          </a:xfrm>
          <a:prstGeom prst="ellipse">
            <a:avLst/>
          </a:prstGeom>
          <a:solidFill>
            <a:srgbClr val="D25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33856" y="1481328"/>
            <a:ext cx="100584" cy="100584"/>
          </a:xfrm>
          <a:prstGeom prst="ellipse">
            <a:avLst/>
          </a:prstGeom>
          <a:solidFill>
            <a:srgbClr val="F49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53312" y="1481328"/>
            <a:ext cx="100584" cy="100584"/>
          </a:xfrm>
          <a:prstGeom prst="ellipse">
            <a:avLst/>
          </a:prstGeom>
          <a:solidFill>
            <a:srgbClr val="339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4332" y="1487436"/>
            <a:ext cx="7132320" cy="3139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800" b="1" dirty="0">
                <a:solidFill>
                  <a:srgbClr val="667788"/>
                </a:solidFill>
                <a:latin typeface="Aptos"/>
              </a:rPr>
              <a:t>CAPTURE  — </a:t>
            </a:r>
            <a:r>
              <a:rPr sz="1800" b="1" dirty="0" err="1">
                <a:solidFill>
                  <a:srgbClr val="667788"/>
                </a:solidFill>
                <a:latin typeface="Aptos"/>
              </a:rPr>
              <a:t>entraî</a:t>
            </a:r>
            <a:r>
              <a:rPr lang="fr-FR" sz="1800" b="1" dirty="0">
                <a:solidFill>
                  <a:srgbClr val="667788"/>
                </a:solidFill>
                <a:latin typeface="Aptos"/>
              </a:rPr>
              <a:t>n</a:t>
            </a:r>
            <a:r>
              <a:rPr sz="1800" b="1" dirty="0" err="1">
                <a:solidFill>
                  <a:srgbClr val="667788"/>
                </a:solidFill>
                <a:latin typeface="Aptos"/>
              </a:rPr>
              <a:t>ement</a:t>
            </a:r>
            <a:r>
              <a:rPr sz="1800" b="1" dirty="0">
                <a:solidFill>
                  <a:srgbClr val="667788"/>
                </a:solidFill>
                <a:latin typeface="Aptos"/>
              </a:rPr>
              <a:t> MLlib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7072" y="1261872"/>
            <a:ext cx="2953512" cy="4224528"/>
          </a:xfrm>
          <a:prstGeom prst="roundRect">
            <a:avLst/>
          </a:prstGeom>
          <a:solidFill>
            <a:srgbClr val="122234"/>
          </a:solidFill>
          <a:ln>
            <a:solidFill>
              <a:srgbClr val="12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979408" y="1627632"/>
            <a:ext cx="2148840" cy="347472"/>
          </a:xfrm>
          <a:prstGeom prst="roundRect">
            <a:avLst/>
          </a:prstGeom>
          <a:solidFill>
            <a:srgbClr val="F49740"/>
          </a:solidFill>
          <a:ln>
            <a:solidFill>
              <a:srgbClr val="F49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52560" y="1700784"/>
            <a:ext cx="2002536" cy="1828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RÉSULTAT CLÉ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1392" y="2331720"/>
            <a:ext cx="2404872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"/>
              </a:rPr>
              <a:t>AUC</a:t>
            </a:r>
            <a:br/>
            <a:r>
              <a:rPr sz="2500" b="1">
                <a:solidFill>
                  <a:srgbClr val="FFFFFF"/>
                </a:solidFill>
                <a:latin typeface="Aptos"/>
              </a:rPr>
              <a:t>0,7818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3493008"/>
            <a:ext cx="2286000" cy="11887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50" b="0">
                <a:solidFill>
                  <a:srgbClr val="DAE5EE"/>
                </a:solidFill>
                <a:latin typeface="Aptos"/>
              </a:rPr>
              <a:t>100 000 tweets Sentiment140 utilisés pour l’apprentissage.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806440"/>
            <a:ext cx="10881360" cy="566928"/>
          </a:xfrm>
          <a:prstGeom prst="roundRect">
            <a:avLst/>
          </a:prstGeom>
          <a:solidFill>
            <a:srgbClr val="EBF3F8"/>
          </a:solidFill>
          <a:ln>
            <a:solidFill>
              <a:srgbClr val="EB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" y="5925312"/>
            <a:ext cx="1051560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70" b="0" dirty="0">
                <a:solidFill>
                  <a:srgbClr val="122234"/>
                </a:solidFill>
                <a:latin typeface="Aptos"/>
              </a:rPr>
              <a:t>À DIRE  •  L’AUC de 0,7818 </a:t>
            </a:r>
            <a:r>
              <a:rPr sz="1070" b="0" dirty="0" err="1">
                <a:solidFill>
                  <a:srgbClr val="122234"/>
                </a:solidFill>
                <a:latin typeface="Aptos"/>
              </a:rPr>
              <a:t>indique</a:t>
            </a:r>
            <a:r>
              <a:rPr sz="1070" b="0" dirty="0">
                <a:solidFill>
                  <a:srgbClr val="122234"/>
                </a:solidFill>
                <a:latin typeface="Aptos"/>
              </a:rPr>
              <a:t> que le modèle distingue </a:t>
            </a:r>
            <a:r>
              <a:rPr sz="1070" b="0" dirty="0" err="1">
                <a:solidFill>
                  <a:srgbClr val="122234"/>
                </a:solidFill>
                <a:latin typeface="Aptos"/>
              </a:rPr>
              <a:t>correctement</a:t>
            </a:r>
            <a:r>
              <a:rPr sz="1070" b="0" dirty="0">
                <a:solidFill>
                  <a:srgbClr val="122234"/>
                </a:solidFill>
                <a:latin typeface="Aptos"/>
              </a:rPr>
              <a:t> les deux classes, </a:t>
            </a:r>
            <a:r>
              <a:rPr sz="1070" b="0" dirty="0" err="1">
                <a:solidFill>
                  <a:srgbClr val="122234"/>
                </a:solidFill>
                <a:latin typeface="Aptos"/>
              </a:rPr>
              <a:t>même</a:t>
            </a:r>
            <a:r>
              <a:rPr sz="1070" b="0" dirty="0">
                <a:solidFill>
                  <a:srgbClr val="122234"/>
                </a:solidFill>
                <a:latin typeface="Aptos"/>
              </a:rPr>
              <a:t> </a:t>
            </a:r>
            <a:r>
              <a:rPr sz="1070" b="0" dirty="0" err="1">
                <a:solidFill>
                  <a:srgbClr val="122234"/>
                </a:solidFill>
                <a:latin typeface="Aptos"/>
              </a:rPr>
              <a:t>s’il</a:t>
            </a:r>
            <a:r>
              <a:rPr sz="1070" b="0" dirty="0">
                <a:solidFill>
                  <a:srgbClr val="122234"/>
                </a:solidFill>
                <a:latin typeface="Aptos"/>
              </a:rPr>
              <a:t> </a:t>
            </a:r>
            <a:r>
              <a:rPr sz="1070" b="0" dirty="0" err="1">
                <a:solidFill>
                  <a:srgbClr val="122234"/>
                </a:solidFill>
                <a:latin typeface="Aptos"/>
              </a:rPr>
              <a:t>reste</a:t>
            </a:r>
            <a:r>
              <a:rPr sz="1070" b="0" dirty="0">
                <a:solidFill>
                  <a:srgbClr val="122234"/>
                </a:solidFill>
                <a:latin typeface="Aptos"/>
              </a:rPr>
              <a:t> perfectible.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6519672"/>
            <a:ext cx="178308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750" b="1">
                <a:solidFill>
                  <a:srgbClr val="667788"/>
                </a:solidFill>
                <a:latin typeface="Aptos"/>
              </a:rPr>
              <a:t>MASTODON SPARK ANALYSIS</a:t>
            </a:r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2D3F6B24-0FDA-1141-85DB-B3516786F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560" y="2105622"/>
            <a:ext cx="7298856" cy="28939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41148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>
                <a:solidFill>
                  <a:srgbClr val="2670B0"/>
                </a:solidFill>
                <a:latin typeface="Aptos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64592"/>
            <a:ext cx="292608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>
                <a:solidFill>
                  <a:srgbClr val="29BEC6"/>
                </a:solidFill>
                <a:latin typeface="Aptos"/>
              </a:rPr>
              <a:t>PRÉDICTION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1051560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400" b="1">
                <a:solidFill>
                  <a:srgbClr val="122234"/>
                </a:solidFill>
                <a:latin typeface="Aptos"/>
              </a:rPr>
              <a:t>Application aux publications Mastodon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932688"/>
            <a:ext cx="822960" cy="41148"/>
          </a:xfrm>
          <a:prstGeom prst="rect">
            <a:avLst/>
          </a:prstGeom>
          <a:solidFill>
            <a:srgbClr val="F49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261872"/>
            <a:ext cx="7635240" cy="4224528"/>
          </a:xfrm>
          <a:prstGeom prst="roundRect">
            <a:avLst/>
          </a:prstGeom>
          <a:solidFill>
            <a:srgbClr val="FFFFFF"/>
          </a:solidFill>
          <a:ln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1481328"/>
            <a:ext cx="100584" cy="100584"/>
          </a:xfrm>
          <a:prstGeom prst="ellipse">
            <a:avLst/>
          </a:prstGeom>
          <a:solidFill>
            <a:srgbClr val="D25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33856" y="1481328"/>
            <a:ext cx="100584" cy="100584"/>
          </a:xfrm>
          <a:prstGeom prst="ellipse">
            <a:avLst/>
          </a:prstGeom>
          <a:solidFill>
            <a:srgbClr val="F49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53312" y="1481328"/>
            <a:ext cx="100584" cy="100584"/>
          </a:xfrm>
          <a:prstGeom prst="ellipse">
            <a:avLst/>
          </a:prstGeom>
          <a:solidFill>
            <a:srgbClr val="339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1412748"/>
            <a:ext cx="7132320" cy="3139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800" b="1" dirty="0">
                <a:solidFill>
                  <a:srgbClr val="667788"/>
                </a:solidFill>
                <a:latin typeface="Aptos"/>
              </a:rPr>
              <a:t>CAPTURE  — résultats 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7132320" cy="2062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0" dirty="0">
                <a:solidFill>
                  <a:srgbClr val="667788"/>
                </a:solidFill>
                <a:latin typeface="Aptos"/>
              </a:rPr>
              <a:t>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7072" y="1261872"/>
            <a:ext cx="2953512" cy="4224528"/>
          </a:xfrm>
          <a:prstGeom prst="roundRect">
            <a:avLst/>
          </a:prstGeom>
          <a:solidFill>
            <a:srgbClr val="122234"/>
          </a:solidFill>
          <a:ln>
            <a:solidFill>
              <a:srgbClr val="12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979408" y="1627632"/>
            <a:ext cx="2148840" cy="347472"/>
          </a:xfrm>
          <a:prstGeom prst="roundRect">
            <a:avLst/>
          </a:prstGeom>
          <a:solidFill>
            <a:srgbClr val="F49740"/>
          </a:solidFill>
          <a:ln>
            <a:solidFill>
              <a:srgbClr val="F49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52560" y="1700784"/>
            <a:ext cx="2002536" cy="1828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RÉSULTAT CLÉ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1392" y="2331720"/>
            <a:ext cx="2404872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"/>
              </a:rPr>
              <a:t>21 négatives</a:t>
            </a:r>
            <a:br/>
            <a:r>
              <a:rPr sz="2500" b="1">
                <a:solidFill>
                  <a:srgbClr val="FFFFFF"/>
                </a:solidFill>
                <a:latin typeface="Aptos"/>
              </a:rPr>
              <a:t>17 positives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3493008"/>
            <a:ext cx="2286000" cy="11887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50" b="0">
                <a:solidFill>
                  <a:srgbClr val="DAE5EE"/>
                </a:solidFill>
                <a:latin typeface="Aptos"/>
              </a:rPr>
              <a:t>Les 38 prédictions sont enregistrées dans sentiment_results.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806440"/>
            <a:ext cx="10881360" cy="566928"/>
          </a:xfrm>
          <a:prstGeom prst="roundRect">
            <a:avLst/>
          </a:prstGeom>
          <a:solidFill>
            <a:srgbClr val="EBF3F8"/>
          </a:solidFill>
          <a:ln>
            <a:solidFill>
              <a:srgbClr val="EB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" y="5925312"/>
            <a:ext cx="1051560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70" b="0">
                <a:solidFill>
                  <a:srgbClr val="122234"/>
                </a:solidFill>
                <a:latin typeface="Aptos"/>
              </a:rPr>
              <a:t>À DIRE  •  J’applique ensuite le modèle entraîné aux publications Mastodon et je stocke chaque prédiction.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6519672"/>
            <a:ext cx="178308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750" b="1">
                <a:solidFill>
                  <a:srgbClr val="667788"/>
                </a:solidFill>
                <a:latin typeface="Aptos"/>
              </a:rPr>
              <a:t>MASTODON SPARK ANALYSIS</a:t>
            </a: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9CDBAA45-B14A-54CC-316E-3E8A56F50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811" y="2014716"/>
            <a:ext cx="7440353" cy="29691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41148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>
                <a:solidFill>
                  <a:srgbClr val="2670B0"/>
                </a:solidFill>
                <a:latin typeface="Aptos"/>
              </a:rP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64592"/>
            <a:ext cx="292608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>
                <a:solidFill>
                  <a:srgbClr val="29BEC6"/>
                </a:solidFill>
                <a:latin typeface="Aptos"/>
              </a:rPr>
              <a:t>ANALYSE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1051560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400" b="1">
                <a:solidFill>
                  <a:srgbClr val="122234"/>
                </a:solidFill>
                <a:latin typeface="Aptos"/>
              </a:rPr>
              <a:t>Chargement dans Jupyter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932688"/>
            <a:ext cx="822960" cy="41148"/>
          </a:xfrm>
          <a:prstGeom prst="rect">
            <a:avLst/>
          </a:prstGeom>
          <a:solidFill>
            <a:srgbClr val="F49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261872"/>
            <a:ext cx="7635240" cy="4224528"/>
          </a:xfrm>
          <a:prstGeom prst="roundRect">
            <a:avLst/>
          </a:prstGeom>
          <a:solidFill>
            <a:srgbClr val="FFFFFF"/>
          </a:solidFill>
          <a:ln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1481328"/>
            <a:ext cx="100584" cy="100584"/>
          </a:xfrm>
          <a:prstGeom prst="ellipse">
            <a:avLst/>
          </a:prstGeom>
          <a:solidFill>
            <a:srgbClr val="D25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33856" y="1481328"/>
            <a:ext cx="100584" cy="100584"/>
          </a:xfrm>
          <a:prstGeom prst="ellipse">
            <a:avLst/>
          </a:prstGeom>
          <a:solidFill>
            <a:srgbClr val="F49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53312" y="1481328"/>
            <a:ext cx="100584" cy="100584"/>
          </a:xfrm>
          <a:prstGeom prst="ellipse">
            <a:avLst/>
          </a:prstGeom>
          <a:solidFill>
            <a:srgbClr val="339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418856"/>
            <a:ext cx="7132320" cy="3139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800" b="1" dirty="0">
                <a:solidFill>
                  <a:srgbClr val="667788"/>
                </a:solidFill>
                <a:latin typeface="Aptos"/>
              </a:rPr>
              <a:t>CAPTURE  — notebook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7072" y="1261872"/>
            <a:ext cx="2953512" cy="4224528"/>
          </a:xfrm>
          <a:prstGeom prst="roundRect">
            <a:avLst/>
          </a:prstGeom>
          <a:solidFill>
            <a:srgbClr val="122234"/>
          </a:solidFill>
          <a:ln>
            <a:solidFill>
              <a:srgbClr val="12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979408" y="1627632"/>
            <a:ext cx="2148840" cy="347472"/>
          </a:xfrm>
          <a:prstGeom prst="roundRect">
            <a:avLst/>
          </a:prstGeom>
          <a:solidFill>
            <a:srgbClr val="F49740"/>
          </a:solidFill>
          <a:ln>
            <a:solidFill>
              <a:srgbClr val="F49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52560" y="1700784"/>
            <a:ext cx="2002536" cy="1828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RÉSULTAT CLÉ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1392" y="2331720"/>
            <a:ext cx="2404872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"/>
              </a:rPr>
              <a:t>38 + 38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3493008"/>
            <a:ext cx="2286000" cy="11887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50" b="0">
                <a:solidFill>
                  <a:srgbClr val="DAE5EE"/>
                </a:solidFill>
                <a:latin typeface="Aptos"/>
              </a:rPr>
              <a:t>38 publications et 38 prédictions sont récupérées depuis PostgreSQL.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806440"/>
            <a:ext cx="10881360" cy="566928"/>
          </a:xfrm>
          <a:prstGeom prst="roundRect">
            <a:avLst/>
          </a:prstGeom>
          <a:solidFill>
            <a:srgbClr val="EBF3F8"/>
          </a:solidFill>
          <a:ln>
            <a:solidFill>
              <a:srgbClr val="EB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" y="5925312"/>
            <a:ext cx="1051560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70" b="0">
                <a:solidFill>
                  <a:srgbClr val="122234"/>
                </a:solidFill>
                <a:latin typeface="Aptos"/>
              </a:rPr>
              <a:t>À DIRE  •  Jupyter se connecte directement à PostgreSQL : chaque publication possède bien une prédiction de sentiment.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6519672"/>
            <a:ext cx="178308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750" b="1">
                <a:solidFill>
                  <a:srgbClr val="667788"/>
                </a:solidFill>
                <a:latin typeface="Aptos"/>
              </a:rPr>
              <a:t>MASTODON SPARK ANALYSIS</a:t>
            </a: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08353741-A79C-B850-151E-BAF8BC518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654" y="1766698"/>
            <a:ext cx="7254732" cy="33246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41148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>
                <a:solidFill>
                  <a:srgbClr val="2670B0"/>
                </a:solidFill>
                <a:latin typeface="Aptos"/>
              </a:rPr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64592"/>
            <a:ext cx="292608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>
                <a:solidFill>
                  <a:srgbClr val="29BEC6"/>
                </a:solidFill>
                <a:latin typeface="Aptos"/>
              </a:rPr>
              <a:t>LIVRABLE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1051560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400" b="1">
                <a:solidFill>
                  <a:srgbClr val="122234"/>
                </a:solidFill>
                <a:latin typeface="Aptos"/>
              </a:rPr>
              <a:t>Versionnement avec GitLab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932688"/>
            <a:ext cx="822960" cy="41148"/>
          </a:xfrm>
          <a:prstGeom prst="rect">
            <a:avLst/>
          </a:prstGeom>
          <a:solidFill>
            <a:srgbClr val="F49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67512" y="1304201"/>
            <a:ext cx="7635240" cy="4224528"/>
          </a:xfrm>
          <a:prstGeom prst="roundRect">
            <a:avLst/>
          </a:prstGeom>
          <a:solidFill>
            <a:srgbClr val="FFFFFF"/>
          </a:solidFill>
          <a:ln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1481328"/>
            <a:ext cx="100584" cy="100584"/>
          </a:xfrm>
          <a:prstGeom prst="ellipse">
            <a:avLst/>
          </a:prstGeom>
          <a:solidFill>
            <a:srgbClr val="D25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33856" y="1481328"/>
            <a:ext cx="100584" cy="100584"/>
          </a:xfrm>
          <a:prstGeom prst="ellipse">
            <a:avLst/>
          </a:prstGeom>
          <a:solidFill>
            <a:srgbClr val="F49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53312" y="1481328"/>
            <a:ext cx="100584" cy="100584"/>
          </a:xfrm>
          <a:prstGeom prst="ellipse">
            <a:avLst/>
          </a:prstGeom>
          <a:solidFill>
            <a:srgbClr val="339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569732"/>
            <a:ext cx="7132320" cy="3139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800" b="1" dirty="0">
                <a:solidFill>
                  <a:srgbClr val="667788"/>
                </a:solidFill>
                <a:latin typeface="Aptos"/>
              </a:rPr>
              <a:t>CAPTURE  — d</a:t>
            </a:r>
            <a:r>
              <a:rPr lang="fr-FR" sz="1800" b="1" dirty="0">
                <a:solidFill>
                  <a:srgbClr val="667788"/>
                </a:solidFill>
                <a:latin typeface="Aptos"/>
              </a:rPr>
              <a:t>e</a:t>
            </a:r>
            <a:r>
              <a:rPr sz="1800" b="1" dirty="0">
                <a:solidFill>
                  <a:srgbClr val="667788"/>
                </a:solidFill>
                <a:latin typeface="Aptos"/>
              </a:rPr>
              <a:t>p</a:t>
            </a:r>
            <a:r>
              <a:rPr lang="fr-FR" sz="1800" b="1" dirty="0">
                <a:solidFill>
                  <a:srgbClr val="667788"/>
                </a:solidFill>
                <a:latin typeface="Aptos"/>
              </a:rPr>
              <a:t>o</a:t>
            </a:r>
            <a:r>
              <a:rPr sz="1800" b="1" dirty="0">
                <a:solidFill>
                  <a:srgbClr val="667788"/>
                </a:solidFill>
                <a:latin typeface="Aptos"/>
              </a:rPr>
              <a:t>t GitLab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5889"/>
            <a:ext cx="7132320" cy="3447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lang="fr-FR" sz="2000" dirty="0">
                <a:solidFill>
                  <a:srgbClr val="667788"/>
                </a:solidFill>
                <a:latin typeface="Aptos"/>
                <a:hlinkClick r:id="rId2"/>
              </a:rPr>
              <a:t>https://github.com/djouk140/SPARK_Data_Engineering_Projet</a:t>
            </a:r>
            <a:endParaRPr sz="2000" b="0" dirty="0">
              <a:solidFill>
                <a:srgbClr val="667788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577072" y="1261872"/>
            <a:ext cx="2953512" cy="4224528"/>
          </a:xfrm>
          <a:prstGeom prst="roundRect">
            <a:avLst/>
          </a:prstGeom>
          <a:solidFill>
            <a:srgbClr val="122234"/>
          </a:solidFill>
          <a:ln>
            <a:solidFill>
              <a:srgbClr val="12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979408" y="1627632"/>
            <a:ext cx="2148840" cy="347472"/>
          </a:xfrm>
          <a:prstGeom prst="roundRect">
            <a:avLst/>
          </a:prstGeom>
          <a:solidFill>
            <a:srgbClr val="F49740"/>
          </a:solidFill>
          <a:ln>
            <a:solidFill>
              <a:srgbClr val="F49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52560" y="1700784"/>
            <a:ext cx="2002536" cy="1828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RÉSULTAT CLÉ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1392" y="2331720"/>
            <a:ext cx="2404872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"/>
              </a:rPr>
              <a:t>Projet</a:t>
            </a:r>
            <a:br/>
            <a:r>
              <a:rPr sz="2500" b="1">
                <a:solidFill>
                  <a:srgbClr val="FFFFFF"/>
                </a:solidFill>
                <a:latin typeface="Aptos"/>
              </a:rPr>
              <a:t>complet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3493008"/>
            <a:ext cx="2286000" cy="11887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50" b="0">
                <a:solidFill>
                  <a:srgbClr val="DAE5EE"/>
                </a:solidFill>
                <a:latin typeface="Aptos"/>
              </a:rPr>
              <a:t>Code, Docker, Spark, notebook, SQL et documentation sont versionnés.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806440"/>
            <a:ext cx="10881360" cy="566928"/>
          </a:xfrm>
          <a:prstGeom prst="roundRect">
            <a:avLst/>
          </a:prstGeom>
          <a:solidFill>
            <a:srgbClr val="EBF3F8"/>
          </a:solidFill>
          <a:ln>
            <a:solidFill>
              <a:srgbClr val="EB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" y="5925312"/>
            <a:ext cx="1051560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70" b="0" dirty="0">
                <a:solidFill>
                  <a:srgbClr val="122234"/>
                </a:solidFill>
                <a:latin typeface="Aptos"/>
              </a:rPr>
              <a:t>À DIRE  •  GitLab </a:t>
            </a:r>
            <a:r>
              <a:rPr sz="1070" b="0" dirty="0" err="1">
                <a:solidFill>
                  <a:srgbClr val="122234"/>
                </a:solidFill>
                <a:latin typeface="Aptos"/>
              </a:rPr>
              <a:t>centralise</a:t>
            </a:r>
            <a:r>
              <a:rPr sz="1070" b="0" dirty="0">
                <a:solidFill>
                  <a:srgbClr val="122234"/>
                </a:solidFill>
                <a:latin typeface="Aptos"/>
              </a:rPr>
              <a:t> le projet. Les secrets et le gros dataset </a:t>
            </a:r>
            <a:r>
              <a:rPr sz="1070" b="0" dirty="0" err="1">
                <a:solidFill>
                  <a:srgbClr val="122234"/>
                </a:solidFill>
                <a:latin typeface="Aptos"/>
              </a:rPr>
              <a:t>d’entraînement</a:t>
            </a:r>
            <a:r>
              <a:rPr sz="1070" b="0" dirty="0">
                <a:solidFill>
                  <a:srgbClr val="122234"/>
                </a:solidFill>
                <a:latin typeface="Aptos"/>
              </a:rPr>
              <a:t> </a:t>
            </a:r>
            <a:r>
              <a:rPr sz="1070" b="0" dirty="0" err="1">
                <a:solidFill>
                  <a:srgbClr val="122234"/>
                </a:solidFill>
                <a:latin typeface="Aptos"/>
              </a:rPr>
              <a:t>restent</a:t>
            </a:r>
            <a:r>
              <a:rPr sz="1070" b="0" dirty="0">
                <a:solidFill>
                  <a:srgbClr val="122234"/>
                </a:solidFill>
                <a:latin typeface="Aptos"/>
              </a:rPr>
              <a:t> </a:t>
            </a:r>
            <a:r>
              <a:rPr sz="1070" b="0" dirty="0" err="1">
                <a:solidFill>
                  <a:srgbClr val="122234"/>
                </a:solidFill>
                <a:latin typeface="Aptos"/>
              </a:rPr>
              <a:t>volontairement</a:t>
            </a:r>
            <a:r>
              <a:rPr sz="1070" b="0" dirty="0">
                <a:solidFill>
                  <a:srgbClr val="122234"/>
                </a:solidFill>
                <a:latin typeface="Aptos"/>
              </a:rPr>
              <a:t> hors du </a:t>
            </a:r>
            <a:r>
              <a:rPr sz="1070" b="0" dirty="0" err="1">
                <a:solidFill>
                  <a:srgbClr val="122234"/>
                </a:solidFill>
                <a:latin typeface="Aptos"/>
              </a:rPr>
              <a:t>dépôt</a:t>
            </a:r>
            <a:r>
              <a:rPr sz="1070" b="0" dirty="0">
                <a:solidFill>
                  <a:srgbClr val="122234"/>
                </a:solidFill>
                <a:latin typeface="Aptos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6519672"/>
            <a:ext cx="178308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750" b="1">
                <a:solidFill>
                  <a:srgbClr val="667788"/>
                </a:solidFill>
                <a:latin typeface="Aptos"/>
              </a:rPr>
              <a:t>MASTODON SPARK ANALYSIS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41148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>
                <a:solidFill>
                  <a:srgbClr val="2670B0"/>
                </a:solidFill>
                <a:latin typeface="Aptos"/>
              </a:rP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64592"/>
            <a:ext cx="292608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>
                <a:solidFill>
                  <a:srgbClr val="29BEC6"/>
                </a:solidFill>
                <a:latin typeface="Aptos"/>
              </a:rPr>
              <a:t>BILAN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1051560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400" b="1">
                <a:solidFill>
                  <a:srgbClr val="122234"/>
                </a:solidFill>
                <a:latin typeface="Aptos"/>
              </a:rPr>
              <a:t>Résultats clés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932688"/>
            <a:ext cx="822960" cy="41148"/>
          </a:xfrm>
          <a:prstGeom prst="rect">
            <a:avLst/>
          </a:prstGeom>
          <a:solidFill>
            <a:srgbClr val="F49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1993392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97280" y="1755648"/>
            <a:ext cx="804672" cy="347472"/>
          </a:xfrm>
          <a:prstGeom prst="roundRect">
            <a:avLst/>
          </a:prstGeom>
          <a:solidFill>
            <a:srgbClr val="29BEC6"/>
          </a:solidFill>
          <a:ln>
            <a:solidFill>
              <a:srgbClr val="29B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0432" y="1828800"/>
            <a:ext cx="658368" cy="1828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331720"/>
            <a:ext cx="1773936" cy="4754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300" b="1">
                <a:solidFill>
                  <a:srgbClr val="122234"/>
                </a:solidFill>
                <a:latin typeface="Aptos"/>
              </a:rPr>
              <a:t>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907792"/>
            <a:ext cx="1773936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667788"/>
                </a:solidFill>
                <a:latin typeface="Aptos"/>
              </a:rPr>
              <a:t>publications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7208" y="1508760"/>
            <a:ext cx="1993392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401568" y="1755648"/>
            <a:ext cx="804672" cy="347472"/>
          </a:xfrm>
          <a:prstGeom prst="roundRect">
            <a:avLst/>
          </a:prstGeom>
          <a:solidFill>
            <a:srgbClr val="2670B0"/>
          </a:solidFill>
          <a:ln>
            <a:solidFill>
              <a:srgbClr val="267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0" y="1828800"/>
            <a:ext cx="658368" cy="1828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16936" y="2331720"/>
            <a:ext cx="1773936" cy="4754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300" b="1">
                <a:solidFill>
                  <a:srgbClr val="122234"/>
                </a:solidFill>
                <a:latin typeface="Aptos"/>
              </a:rPr>
              <a:t>100 000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16936" y="2907792"/>
            <a:ext cx="1773936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667788"/>
                </a:solidFill>
                <a:latin typeface="Aptos"/>
              </a:rPr>
              <a:t>tweets ML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11496" y="1508760"/>
            <a:ext cx="1993392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705856" y="1755648"/>
            <a:ext cx="804672" cy="347472"/>
          </a:xfrm>
          <a:prstGeom prst="roundRect">
            <a:avLst/>
          </a:prstGeom>
          <a:solidFill>
            <a:srgbClr val="F49740"/>
          </a:solidFill>
          <a:ln>
            <a:solidFill>
              <a:srgbClr val="F49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79008" y="1828800"/>
            <a:ext cx="658368" cy="1828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1224" y="2331720"/>
            <a:ext cx="1773936" cy="4754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300" b="1">
                <a:solidFill>
                  <a:srgbClr val="122234"/>
                </a:solidFill>
                <a:latin typeface="Aptos"/>
              </a:rPr>
              <a:t>0,7818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21224" y="2907792"/>
            <a:ext cx="1773936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667788"/>
                </a:solidFill>
                <a:latin typeface="Aptos"/>
              </a:rPr>
              <a:t>AUC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15784" y="1508760"/>
            <a:ext cx="1993392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010144" y="1755648"/>
            <a:ext cx="804672" cy="347472"/>
          </a:xfrm>
          <a:prstGeom prst="roundRect">
            <a:avLst/>
          </a:prstGeom>
          <a:solidFill>
            <a:srgbClr val="339B70"/>
          </a:solidFill>
          <a:ln>
            <a:solidFill>
              <a:srgbClr val="339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83296" y="1828800"/>
            <a:ext cx="658368" cy="1828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25512" y="2331720"/>
            <a:ext cx="1773936" cy="4754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300" b="1">
                <a:solidFill>
                  <a:srgbClr val="122234"/>
                </a:solidFill>
                <a:latin typeface="Aptos"/>
              </a:rPr>
              <a:t>21 / 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25512" y="2907792"/>
            <a:ext cx="1773936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667788"/>
                </a:solidFill>
                <a:latin typeface="Aptos"/>
              </a:rPr>
              <a:t>− / +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20072" y="1508760"/>
            <a:ext cx="1993392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314432" y="1755648"/>
            <a:ext cx="804672" cy="347472"/>
          </a:xfrm>
          <a:prstGeom prst="roundRect">
            <a:avLst/>
          </a:prstGeom>
          <a:solidFill>
            <a:srgbClr val="29BEC6"/>
          </a:solidFill>
          <a:ln>
            <a:solidFill>
              <a:srgbClr val="29B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387584" y="1828800"/>
            <a:ext cx="658368" cy="1828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2331720"/>
            <a:ext cx="1773936" cy="4754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300" b="1">
                <a:solidFill>
                  <a:srgbClr val="122234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9800" y="2907792"/>
            <a:ext cx="1773936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667788"/>
                </a:solidFill>
                <a:latin typeface="Aptos"/>
              </a:rPr>
              <a:t>visualisations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234440" y="4160520"/>
            <a:ext cx="9738360" cy="658368"/>
          </a:xfrm>
          <a:prstGeom prst="roundRect">
            <a:avLst/>
          </a:prstGeom>
          <a:solidFill>
            <a:srgbClr val="122234"/>
          </a:solidFill>
          <a:ln>
            <a:solidFill>
              <a:srgbClr val="12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508760" y="4370832"/>
            <a:ext cx="91897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Aptos"/>
              </a:rPr>
              <a:t>Pipeline validé de bout en bout : collecte → traitement → stockage → ML → visualisation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806440"/>
            <a:ext cx="10881360" cy="566928"/>
          </a:xfrm>
          <a:prstGeom prst="roundRect">
            <a:avLst/>
          </a:prstGeom>
          <a:solidFill>
            <a:srgbClr val="EBF3F8"/>
          </a:solidFill>
          <a:ln>
            <a:solidFill>
              <a:srgbClr val="EB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1248" y="5925312"/>
            <a:ext cx="1051560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70" b="0" dirty="0">
                <a:solidFill>
                  <a:srgbClr val="122234"/>
                </a:solidFill>
                <a:latin typeface="Aptos"/>
              </a:rPr>
              <a:t>À DIRE  •  </a:t>
            </a:r>
            <a:r>
              <a:rPr sz="1070" b="0" dirty="0" err="1">
                <a:solidFill>
                  <a:srgbClr val="122234"/>
                </a:solidFill>
                <a:latin typeface="Aptos"/>
              </a:rPr>
              <a:t>Ces</a:t>
            </a:r>
            <a:r>
              <a:rPr sz="1070" b="0" dirty="0">
                <a:solidFill>
                  <a:srgbClr val="122234"/>
                </a:solidFill>
                <a:latin typeface="Aptos"/>
              </a:rPr>
              <a:t> chiffres </a:t>
            </a:r>
            <a:r>
              <a:rPr sz="1070" b="0" dirty="0" err="1">
                <a:solidFill>
                  <a:srgbClr val="122234"/>
                </a:solidFill>
                <a:latin typeface="Aptos"/>
              </a:rPr>
              <a:t>résument</a:t>
            </a:r>
            <a:r>
              <a:rPr sz="1070" b="0" dirty="0">
                <a:solidFill>
                  <a:srgbClr val="122234"/>
                </a:solidFill>
                <a:latin typeface="Aptos"/>
              </a:rPr>
              <a:t> le projet : 38 publications </a:t>
            </a:r>
            <a:r>
              <a:rPr sz="1070" b="0" dirty="0" err="1">
                <a:solidFill>
                  <a:srgbClr val="122234"/>
                </a:solidFill>
                <a:latin typeface="Aptos"/>
              </a:rPr>
              <a:t>analysées</a:t>
            </a:r>
            <a:r>
              <a:rPr sz="1070" b="0" dirty="0">
                <a:solidFill>
                  <a:srgbClr val="122234"/>
                </a:solidFill>
                <a:latin typeface="Aptos"/>
              </a:rPr>
              <a:t>, 100 000 tweets </a:t>
            </a:r>
            <a:r>
              <a:rPr sz="1070" b="0" dirty="0" err="1">
                <a:solidFill>
                  <a:srgbClr val="122234"/>
                </a:solidFill>
                <a:latin typeface="Aptos"/>
              </a:rPr>
              <a:t>d’entraînement</a:t>
            </a:r>
            <a:r>
              <a:rPr sz="1070" b="0" dirty="0">
                <a:solidFill>
                  <a:srgbClr val="122234"/>
                </a:solidFill>
                <a:latin typeface="Aptos"/>
              </a:rPr>
              <a:t>, une AUC de 0,7818 et cinq </a:t>
            </a:r>
            <a:r>
              <a:rPr sz="1070" b="0" dirty="0" err="1">
                <a:solidFill>
                  <a:srgbClr val="122234"/>
                </a:solidFill>
                <a:latin typeface="Aptos"/>
              </a:rPr>
              <a:t>visualisations</a:t>
            </a:r>
            <a:r>
              <a:rPr sz="1070" b="0" dirty="0">
                <a:solidFill>
                  <a:srgbClr val="122234"/>
                </a:solidFill>
                <a:latin typeface="Aptos"/>
              </a:rPr>
              <a:t>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6519672"/>
            <a:ext cx="178308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750" b="1">
                <a:solidFill>
                  <a:srgbClr val="667788"/>
                </a:solidFill>
                <a:latin typeface="Aptos"/>
              </a:rPr>
              <a:t>MASTODON SPARK ANALYSIS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41148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>
                <a:solidFill>
                  <a:srgbClr val="2670B0"/>
                </a:solidFill>
                <a:latin typeface="Aptos"/>
              </a:rPr>
              <a:t>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64592"/>
            <a:ext cx="292608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>
                <a:solidFill>
                  <a:srgbClr val="29BEC6"/>
                </a:solidFill>
                <a:latin typeface="Aptos"/>
              </a:rPr>
              <a:t>BILAN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1051560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400" b="1">
                <a:solidFill>
                  <a:srgbClr val="122234"/>
                </a:solidFill>
                <a:latin typeface="Aptos"/>
              </a:rPr>
              <a:t>Limites et perspectives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932688"/>
            <a:ext cx="822960" cy="41148"/>
          </a:xfrm>
          <a:prstGeom prst="rect">
            <a:avLst/>
          </a:prstGeom>
          <a:solidFill>
            <a:srgbClr val="F49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525780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63640" y="1371600"/>
            <a:ext cx="5257800" cy="4069080"/>
          </a:xfrm>
          <a:prstGeom prst="roundRect">
            <a:avLst/>
          </a:prstGeom>
          <a:solidFill>
            <a:srgbClr val="122234"/>
          </a:solidFill>
          <a:ln>
            <a:solidFill>
              <a:srgbClr val="12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60120" y="1664208"/>
            <a:ext cx="1280160" cy="347472"/>
          </a:xfrm>
          <a:prstGeom prst="roundRect">
            <a:avLst/>
          </a:prstGeom>
          <a:solidFill>
            <a:srgbClr val="F49740"/>
          </a:solidFill>
          <a:ln>
            <a:solidFill>
              <a:srgbClr val="F49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33272" y="1737360"/>
            <a:ext cx="1133856" cy="1828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LIMITES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1664208"/>
            <a:ext cx="1645920" cy="347472"/>
          </a:xfrm>
          <a:prstGeom prst="roundRect">
            <a:avLst/>
          </a:prstGeom>
          <a:solidFill>
            <a:srgbClr val="29BEC6"/>
          </a:solidFill>
          <a:ln>
            <a:solidFill>
              <a:srgbClr val="29B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11112" y="1737360"/>
            <a:ext cx="1499616" cy="1828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50" b="1">
                <a:solidFill>
                  <a:srgbClr val="122234"/>
                </a:solidFill>
                <a:latin typeface="Aptos"/>
              </a:rPr>
              <a:t>PERSPECTIVES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331720"/>
            <a:ext cx="4572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>
                <a:solidFill>
                  <a:srgbClr val="122234"/>
                </a:solidFill>
                <a:latin typeface="Aptos"/>
              </a:rPr>
              <a:t>•  Déduplication limitée après redémarrage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953512"/>
            <a:ext cx="4572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>
                <a:solidFill>
                  <a:srgbClr val="122234"/>
                </a:solidFill>
                <a:latin typeface="Aptos"/>
              </a:rPr>
              <a:t>•  Kafka sans volume persistant dans la démo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3575304"/>
            <a:ext cx="4572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>
                <a:solidFill>
                  <a:srgbClr val="122234"/>
                </a:solidFill>
                <a:latin typeface="Aptos"/>
              </a:rPr>
              <a:t>•  Modèle binaire : positif / négatif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4197096"/>
            <a:ext cx="4572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>
                <a:solidFill>
                  <a:srgbClr val="122234"/>
                </a:solidFill>
                <a:latin typeface="Aptos"/>
              </a:rPr>
              <a:t>•  Peu de données Mastodon collectées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2331720"/>
            <a:ext cx="4572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•  Persistance durable de Kafka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2953512"/>
            <a:ext cx="4572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•  Modèle multilingue + sentiment neutre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3575304"/>
            <a:ext cx="4572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•  Dashboard temps réel interactif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4197096"/>
            <a:ext cx="4572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•  Déploiement cloud et automatisation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806440"/>
            <a:ext cx="10881360" cy="566928"/>
          </a:xfrm>
          <a:prstGeom prst="roundRect">
            <a:avLst/>
          </a:prstGeom>
          <a:solidFill>
            <a:srgbClr val="EBF3F8"/>
          </a:solidFill>
          <a:ln>
            <a:solidFill>
              <a:srgbClr val="EB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" y="5925312"/>
            <a:ext cx="1051560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70" b="0" dirty="0">
                <a:solidFill>
                  <a:srgbClr val="122234"/>
                </a:solidFill>
                <a:latin typeface="Aptos"/>
              </a:rPr>
              <a:t>À DIRE  •  Le prototype </a:t>
            </a:r>
            <a:r>
              <a:rPr sz="1070" b="0" dirty="0" err="1">
                <a:solidFill>
                  <a:srgbClr val="122234"/>
                </a:solidFill>
                <a:latin typeface="Aptos"/>
              </a:rPr>
              <a:t>fonctionne</a:t>
            </a:r>
            <a:r>
              <a:rPr sz="1070" b="0" dirty="0">
                <a:solidFill>
                  <a:srgbClr val="122234"/>
                </a:solidFill>
                <a:latin typeface="Aptos"/>
              </a:rPr>
              <a:t>, </a:t>
            </a:r>
            <a:r>
              <a:rPr sz="1070" b="0" dirty="0" err="1">
                <a:solidFill>
                  <a:srgbClr val="122234"/>
                </a:solidFill>
                <a:latin typeface="Aptos"/>
              </a:rPr>
              <a:t>mais</a:t>
            </a:r>
            <a:r>
              <a:rPr sz="1070" b="0" dirty="0">
                <a:solidFill>
                  <a:srgbClr val="122234"/>
                </a:solidFill>
                <a:latin typeface="Aptos"/>
              </a:rPr>
              <a:t> </a:t>
            </a:r>
            <a:r>
              <a:rPr sz="1070" b="0" dirty="0" err="1">
                <a:solidFill>
                  <a:srgbClr val="122234"/>
                </a:solidFill>
                <a:latin typeface="Aptos"/>
              </a:rPr>
              <a:t>ces</a:t>
            </a:r>
            <a:r>
              <a:rPr sz="1070" b="0" dirty="0">
                <a:solidFill>
                  <a:srgbClr val="122234"/>
                </a:solidFill>
                <a:latin typeface="Aptos"/>
              </a:rPr>
              <a:t> </a:t>
            </a:r>
            <a:r>
              <a:rPr sz="1070" b="0" dirty="0" err="1">
                <a:solidFill>
                  <a:srgbClr val="122234"/>
                </a:solidFill>
                <a:latin typeface="Aptos"/>
              </a:rPr>
              <a:t>améliorations</a:t>
            </a:r>
            <a:r>
              <a:rPr sz="1070" b="0" dirty="0">
                <a:solidFill>
                  <a:srgbClr val="122234"/>
                </a:solidFill>
                <a:latin typeface="Aptos"/>
              </a:rPr>
              <a:t> </a:t>
            </a:r>
            <a:r>
              <a:rPr sz="1070" b="0" dirty="0" err="1">
                <a:solidFill>
                  <a:srgbClr val="122234"/>
                </a:solidFill>
                <a:latin typeface="Aptos"/>
              </a:rPr>
              <a:t>permettraient</a:t>
            </a:r>
            <a:r>
              <a:rPr sz="1070" b="0" dirty="0">
                <a:solidFill>
                  <a:srgbClr val="122234"/>
                </a:solidFill>
                <a:latin typeface="Aptos"/>
              </a:rPr>
              <a:t> de le </a:t>
            </a:r>
            <a:r>
              <a:rPr sz="1070" b="0" dirty="0" err="1">
                <a:solidFill>
                  <a:srgbClr val="122234"/>
                </a:solidFill>
                <a:latin typeface="Aptos"/>
              </a:rPr>
              <a:t>rendre</a:t>
            </a:r>
            <a:r>
              <a:rPr sz="1070" b="0" dirty="0">
                <a:solidFill>
                  <a:srgbClr val="122234"/>
                </a:solidFill>
                <a:latin typeface="Aptos"/>
              </a:rPr>
              <a:t> plus </a:t>
            </a:r>
            <a:r>
              <a:rPr sz="1070" b="0" dirty="0" err="1">
                <a:solidFill>
                  <a:srgbClr val="122234"/>
                </a:solidFill>
                <a:latin typeface="Aptos"/>
              </a:rPr>
              <a:t>robuste</a:t>
            </a:r>
            <a:r>
              <a:rPr sz="1070" b="0" dirty="0">
                <a:solidFill>
                  <a:srgbClr val="122234"/>
                </a:solidFill>
                <a:latin typeface="Aptos"/>
              </a:rPr>
              <a:t> et plus </a:t>
            </a:r>
            <a:r>
              <a:rPr sz="1070" b="0" dirty="0" err="1">
                <a:solidFill>
                  <a:srgbClr val="122234"/>
                </a:solidFill>
                <a:latin typeface="Aptos"/>
              </a:rPr>
              <a:t>proche</a:t>
            </a:r>
            <a:r>
              <a:rPr sz="1070" b="0" dirty="0">
                <a:solidFill>
                  <a:srgbClr val="122234"/>
                </a:solidFill>
                <a:latin typeface="Aptos"/>
              </a:rPr>
              <a:t> </a:t>
            </a:r>
            <a:r>
              <a:rPr sz="1070" b="0" dirty="0" err="1">
                <a:solidFill>
                  <a:srgbClr val="122234"/>
                </a:solidFill>
                <a:latin typeface="Aptos"/>
              </a:rPr>
              <a:t>d’une</a:t>
            </a:r>
            <a:r>
              <a:rPr sz="1070" b="0" dirty="0">
                <a:solidFill>
                  <a:srgbClr val="122234"/>
                </a:solidFill>
                <a:latin typeface="Aptos"/>
              </a:rPr>
              <a:t> solution de production.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6519672"/>
            <a:ext cx="178308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750" b="1">
                <a:solidFill>
                  <a:srgbClr val="667788"/>
                </a:solidFill>
                <a:latin typeface="Aptos"/>
              </a:rPr>
              <a:t>MASTODON SPARK ANALYSIS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983480" y="1051560"/>
            <a:ext cx="2240280" cy="347472"/>
          </a:xfrm>
          <a:prstGeom prst="roundRect">
            <a:avLst/>
          </a:prstGeom>
          <a:solidFill>
            <a:srgbClr val="F49740"/>
          </a:solidFill>
          <a:ln>
            <a:solidFill>
              <a:srgbClr val="F49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56632" y="1124712"/>
            <a:ext cx="2093976" cy="1828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FIN DE LA PRÉSENTATION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10332720" cy="6858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ptos"/>
              </a:rPr>
              <a:t>Merci pour votre 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80360"/>
            <a:ext cx="1033272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500" b="1">
                <a:solidFill>
                  <a:srgbClr val="29BEC6"/>
                </a:solidFill>
                <a:latin typeface="Aptos"/>
              </a:rPr>
              <a:t>Des questions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977639"/>
            <a:ext cx="85039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0">
                <a:solidFill>
                  <a:srgbClr val="C9DBE6"/>
                </a:solidFill>
                <a:latin typeface="Aptos"/>
              </a:rPr>
              <a:t>Mastodon  •  Kafka  •  Spark  •  PostgreSQL  •  MLlib  •  Jupyter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4846320"/>
            <a:ext cx="8092440" cy="822960"/>
          </a:xfrm>
          <a:prstGeom prst="roundRect">
            <a:avLst/>
          </a:prstGeom>
          <a:solidFill>
            <a:srgbClr val="1C3248"/>
          </a:solidFill>
          <a:ln>
            <a:solidFill>
              <a:srgbClr val="1C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31720" y="5074920"/>
            <a:ext cx="75438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0" dirty="0">
                <a:solidFill>
                  <a:srgbClr val="FFFFFF"/>
                </a:solidFill>
                <a:latin typeface="Aptos"/>
              </a:rPr>
              <a:t>À DIRE • Ce projet </a:t>
            </a:r>
            <a:r>
              <a:rPr sz="1200" b="0" dirty="0" err="1">
                <a:solidFill>
                  <a:srgbClr val="FFFFFF"/>
                </a:solidFill>
                <a:latin typeface="Aptos"/>
              </a:rPr>
              <a:t>m’a</a:t>
            </a:r>
            <a:r>
              <a:rPr sz="120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Aptos"/>
              </a:rPr>
              <a:t>permis</a:t>
            </a:r>
            <a:r>
              <a:rPr sz="1200" b="0" dirty="0">
                <a:solidFill>
                  <a:srgbClr val="FFFFFF"/>
                </a:solidFill>
                <a:latin typeface="Aptos"/>
              </a:rPr>
              <a:t> de </a:t>
            </a:r>
            <a:r>
              <a:rPr sz="1200" b="0" dirty="0" err="1">
                <a:solidFill>
                  <a:srgbClr val="FFFFFF"/>
                </a:solidFill>
                <a:latin typeface="Aptos"/>
              </a:rPr>
              <a:t>réaliser</a:t>
            </a:r>
            <a:r>
              <a:rPr sz="1200" b="0" dirty="0">
                <a:solidFill>
                  <a:srgbClr val="FFFFFF"/>
                </a:solidFill>
                <a:latin typeface="Aptos"/>
              </a:rPr>
              <a:t> une </a:t>
            </a:r>
            <a:r>
              <a:rPr sz="1200" b="0" dirty="0" err="1">
                <a:solidFill>
                  <a:srgbClr val="FFFFFF"/>
                </a:solidFill>
                <a:latin typeface="Aptos"/>
              </a:rPr>
              <a:t>chaîne</a:t>
            </a:r>
            <a:r>
              <a:rPr sz="1200" b="0" dirty="0">
                <a:solidFill>
                  <a:srgbClr val="FFFFFF"/>
                </a:solidFill>
                <a:latin typeface="Aptos"/>
              </a:rPr>
              <a:t> Data Engineering </a:t>
            </a:r>
            <a:r>
              <a:rPr sz="1200" b="0" dirty="0" err="1">
                <a:solidFill>
                  <a:srgbClr val="FFFFFF"/>
                </a:solidFill>
                <a:latin typeface="Aptos"/>
              </a:rPr>
              <a:t>complète</a:t>
            </a:r>
            <a:r>
              <a:rPr sz="1200" b="0" dirty="0">
                <a:solidFill>
                  <a:srgbClr val="FFFFFF"/>
                </a:solidFill>
                <a:latin typeface="Aptos"/>
              </a:rPr>
              <a:t> et de valider </a:t>
            </a:r>
            <a:r>
              <a:rPr sz="1200" b="0" dirty="0" err="1">
                <a:solidFill>
                  <a:srgbClr val="FFFFFF"/>
                </a:solidFill>
                <a:latin typeface="Aptos"/>
              </a:rPr>
              <a:t>chaque</a:t>
            </a:r>
            <a:r>
              <a:rPr sz="1200" b="0" dirty="0">
                <a:solidFill>
                  <a:srgbClr val="FFFFFF"/>
                </a:solidFill>
                <a:latin typeface="Aptos"/>
              </a:rPr>
              <a:t> étape avec des résultats </a:t>
            </a:r>
            <a:r>
              <a:rPr sz="1200" b="0" dirty="0" err="1">
                <a:solidFill>
                  <a:srgbClr val="FFFFFF"/>
                </a:solidFill>
                <a:latin typeface="Aptos"/>
              </a:rPr>
              <a:t>réels</a:t>
            </a:r>
            <a:r>
              <a:rPr sz="1200" b="0" dirty="0">
                <a:solidFill>
                  <a:srgbClr val="FFFFFF"/>
                </a:solidFill>
                <a:latin typeface="Aptos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6080760"/>
            <a:ext cx="41605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200" b="1">
                <a:solidFill>
                  <a:srgbClr val="C9DBE6"/>
                </a:solidFill>
                <a:latin typeface="Aptos"/>
              </a:rPr>
              <a:t>Nidhal Derbali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1189</Words>
  <Application>Microsoft Office PowerPoint</Application>
  <PresentationFormat>Grand écran</PresentationFormat>
  <Paragraphs>316</Paragraphs>
  <Slides>23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27" baseType="lpstr">
      <vt:lpstr>Aptos</vt:lpstr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hector KOMBOU</dc:creator>
  <cp:keywords/>
  <dc:description>generated using python-pptx</dc:description>
  <cp:lastModifiedBy>Hector Kombou-djoukwe</cp:lastModifiedBy>
  <cp:revision>2</cp:revision>
  <dcterms:created xsi:type="dcterms:W3CDTF">2013-01-27T09:14:16Z</dcterms:created>
  <dcterms:modified xsi:type="dcterms:W3CDTF">2026-10-09T17:08:42Z</dcterms:modified>
  <cp:category/>
</cp:coreProperties>
</file>